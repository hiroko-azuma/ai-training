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96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83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若手向け。1機能あたりの工数は、人手42h、昨年度のAI活用実績26h、今期目標18h。工程別に見るとUT実施とCDのコーディングが大きく減る。UTケース作成はあまり減らない。単価は1人月100万円（仮）、1人月20人日。数字は昨年度プロジェクトの実績と今期の目標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内訳。増える工程（セルフチェック、テストデータ作成）も含めて正直に見せる。レビュー指摘対応は手で直した方が速いため現時点では変わらない。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8779"/>
            <a:ext cx="76200" cy="438150"/>
          </a:xfrm>
          <a:prstGeom prst="roundRect">
            <a:avLst>
              <a:gd name="adj" fmla="val 12500"/>
            </a:avLst>
          </a:prstGeom>
          <a:solidFill>
            <a:srgbClr val="1D6FA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90600" y="533400"/>
            <a:ext cx="10200502" cy="645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974"/>
              </a:lnSpc>
              <a:buNone/>
            </a:pPr>
            <a:r>
              <a:rPr lang="en-US" sz="4350" b="1" kern="0" spc="43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API1本にかかる工数はどう変わるか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90600" y="1196145"/>
            <a:ext cx="16669247" cy="112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400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数値は</a:t>
            </a:r>
            <a:r>
              <a:rPr lang="en-US" altLang="ja-JP" sz="2400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SSNB</a:t>
            </a:r>
            <a:r>
              <a:rPr lang="ja-JP" altLang="en-US" sz="2400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プロジェクトの昨年度実績と今期目標（概算）。対象は</a:t>
            </a:r>
            <a:r>
              <a:rPr lang="en-US" altLang="ja-JP" sz="2400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API1</a:t>
            </a:r>
            <a:r>
              <a:rPr lang="ja-JP" altLang="en-US" sz="2400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本。工程別の内訳は次ページ。</a:t>
            </a:r>
            <a:endParaRPr lang="en-US" altLang="ja-JP" sz="2400" dirty="0">
              <a:solidFill>
                <a:srgbClr val="4A5566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</a:t>
            </a:r>
            <a:r>
              <a:rPr lang="ja-JP" altLang="en-US" sz="2400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を導入し始めた昨年度は</a:t>
            </a:r>
            <a:r>
              <a:rPr lang="en-US" sz="2400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API1本あたり42時間が26時間に。今期の目標18時間は、人手の半分以下になる。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2578690"/>
            <a:ext cx="4077245" cy="44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API1本あたりの工数／工程別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82886" y="2611347"/>
            <a:ext cx="3106672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B447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破線＝人手の半分（21h）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85800" y="8795114"/>
            <a:ext cx="8648701" cy="16329"/>
          </a:xfrm>
          <a:prstGeom prst="rect">
            <a:avLst/>
          </a:prstGeom>
          <a:solidFill>
            <a:srgbClr val="14213A"/>
          </a:solidFill>
          <a:ln/>
        </p:spPr>
        <p:txBody>
          <a:bodyPr/>
          <a:lstStyle/>
          <a:p>
            <a:endParaRPr lang="ja-JP" altLang="en-US"/>
          </a:p>
        </p:txBody>
      </p:sp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5EF9F949-04DB-157F-B907-868C7E76F7D4}"/>
              </a:ext>
            </a:extLst>
          </p:cNvPr>
          <p:cNvGrpSpPr/>
          <p:nvPr/>
        </p:nvGrpSpPr>
        <p:grpSpPr>
          <a:xfrm>
            <a:off x="685800" y="6671039"/>
            <a:ext cx="8648700" cy="28575"/>
            <a:chOff x="685800" y="6671039"/>
            <a:chExt cx="8648700" cy="28575"/>
          </a:xfrm>
        </p:grpSpPr>
        <p:sp>
          <p:nvSpPr>
            <p:cNvPr id="8" name="Shape 6"/>
            <p:cNvSpPr/>
            <p:nvPr/>
          </p:nvSpPr>
          <p:spPr>
            <a:xfrm>
              <a:off x="685800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884549" y="6671039"/>
              <a:ext cx="103414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1083214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1281963" y="6671039"/>
              <a:ext cx="103414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1480627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1679377" y="6671039"/>
              <a:ext cx="103414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1878041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2076790" y="6671039"/>
              <a:ext cx="103414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2275455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474204" y="6671039"/>
              <a:ext cx="103414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72868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2871617" y="6671039"/>
              <a:ext cx="103414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3070282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3269031" y="6671039"/>
              <a:ext cx="103414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3467696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3666445" y="6671039"/>
              <a:ext cx="103414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3865109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4063858" y="6671039"/>
              <a:ext cx="103414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262523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4461272" y="6671039"/>
              <a:ext cx="103414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4659936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4858686" y="6671039"/>
              <a:ext cx="103414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5057350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5256100" y="6671039"/>
              <a:ext cx="103414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5454764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5653513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5852263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6051011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6249761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6448510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6647260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Shape 37"/>
            <p:cNvSpPr/>
            <p:nvPr/>
          </p:nvSpPr>
          <p:spPr>
            <a:xfrm>
              <a:off x="6846009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7044758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7243508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Shape 40"/>
            <p:cNvSpPr/>
            <p:nvPr/>
          </p:nvSpPr>
          <p:spPr>
            <a:xfrm>
              <a:off x="7442257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3" name="Shape 41"/>
            <p:cNvSpPr/>
            <p:nvPr/>
          </p:nvSpPr>
          <p:spPr>
            <a:xfrm>
              <a:off x="7641006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7839756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8038505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8237254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7" name="Shape 45"/>
            <p:cNvSpPr/>
            <p:nvPr/>
          </p:nvSpPr>
          <p:spPr>
            <a:xfrm>
              <a:off x="8436004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8" name="Shape 46"/>
            <p:cNvSpPr/>
            <p:nvPr/>
          </p:nvSpPr>
          <p:spPr>
            <a:xfrm>
              <a:off x="8634753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8833503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Shape 48"/>
            <p:cNvSpPr/>
            <p:nvPr/>
          </p:nvSpPr>
          <p:spPr>
            <a:xfrm>
              <a:off x="9032252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Shape 49"/>
            <p:cNvSpPr/>
            <p:nvPr/>
          </p:nvSpPr>
          <p:spPr>
            <a:xfrm>
              <a:off x="9231001" y="6671039"/>
              <a:ext cx="103499" cy="28575"/>
            </a:xfrm>
            <a:prstGeom prst="rect">
              <a:avLst/>
            </a:prstGeom>
            <a:solidFill>
              <a:srgbClr val="B4472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2" name="Shape 50"/>
          <p:cNvSpPr/>
          <p:nvPr/>
        </p:nvSpPr>
        <p:spPr>
          <a:xfrm>
            <a:off x="1516686" y="3371306"/>
            <a:ext cx="1271843" cy="11185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1793336" y="3228185"/>
            <a:ext cx="718457" cy="375557"/>
          </a:xfrm>
          <a:prstGeom prst="rect">
            <a:avLst/>
          </a:prstGeom>
          <a:ln w="16329">
            <a:solidFill>
              <a:srgbClr val="C9D1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1908063" y="3333468"/>
            <a:ext cx="53340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66667"/>
              </a:lnSpc>
              <a:buNone/>
            </a:pPr>
            <a:r>
              <a:rPr lang="en-US" sz="1800" b="1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726406" y="3784964"/>
            <a:ext cx="928602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66379"/>
              </a:lnSpc>
              <a:buNone/>
            </a:pPr>
            <a:r>
              <a:rPr lang="en-US" sz="3300" b="1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42h</a:t>
            </a:r>
            <a:endParaRPr lang="en-US" sz="3300" dirty="0"/>
          </a:p>
        </p:txBody>
      </p:sp>
      <p:sp>
        <p:nvSpPr>
          <p:cNvPr id="56" name="Text 54"/>
          <p:cNvSpPr/>
          <p:nvPr/>
        </p:nvSpPr>
        <p:spPr>
          <a:xfrm>
            <a:off x="1630986" y="4242164"/>
            <a:ext cx="1119443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66912"/>
              </a:lnSpc>
              <a:buNone/>
            </a:pPr>
            <a:r>
              <a:rPr lang="en-US" sz="1950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5.25人日</a:t>
            </a:r>
            <a:endParaRPr lang="en-US" sz="1950" dirty="0"/>
          </a:p>
        </p:txBody>
      </p:sp>
      <p:sp>
        <p:nvSpPr>
          <p:cNvPr id="57" name="Shape 55"/>
          <p:cNvSpPr/>
          <p:nvPr/>
        </p:nvSpPr>
        <p:spPr>
          <a:xfrm>
            <a:off x="1447800" y="4604114"/>
            <a:ext cx="1409700" cy="1400175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1409700" y="4604114"/>
            <a:ext cx="1485900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447800" y="6004289"/>
            <a:ext cx="1409700" cy="600075"/>
          </a:xfrm>
          <a:prstGeom prst="rect">
            <a:avLst/>
          </a:prstGeom>
          <a:solidFill>
            <a:srgbClr val="3D8F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1409700" y="6004289"/>
            <a:ext cx="14859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447800" y="6604364"/>
            <a:ext cx="1409700" cy="2190750"/>
          </a:xfrm>
          <a:prstGeom prst="rect">
            <a:avLst/>
          </a:prstGeom>
          <a:solidFill>
            <a:srgbClr val="A9CFE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1409700" y="6604364"/>
            <a:ext cx="1485900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4374186" y="4971507"/>
            <a:ext cx="1271843" cy="11185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4650836" y="4828386"/>
            <a:ext cx="718457" cy="375557"/>
          </a:xfrm>
          <a:prstGeom prst="rect">
            <a:avLst/>
          </a:prstGeom>
          <a:ln w="16329">
            <a:solidFill>
              <a:srgbClr val="1D6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4765563" y="4933668"/>
            <a:ext cx="53340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66667"/>
              </a:lnSpc>
              <a:buNone/>
            </a:pPr>
            <a:r>
              <a:rPr lang="en-US" sz="1800" b="1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4583907" y="5385164"/>
            <a:ext cx="928602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66379"/>
              </a:lnSpc>
              <a:buNone/>
            </a:pPr>
            <a:r>
              <a:rPr lang="en-US" sz="3300" b="1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26h</a:t>
            </a:r>
            <a:endParaRPr lang="en-US" sz="3300" dirty="0"/>
          </a:p>
        </p:txBody>
      </p:sp>
      <p:sp>
        <p:nvSpPr>
          <p:cNvPr id="67" name="Text 65"/>
          <p:cNvSpPr/>
          <p:nvPr/>
        </p:nvSpPr>
        <p:spPr>
          <a:xfrm>
            <a:off x="4488486" y="5842364"/>
            <a:ext cx="1119443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66912"/>
              </a:lnSpc>
              <a:buNone/>
            </a:pPr>
            <a:r>
              <a:rPr lang="en-US" sz="1950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3.25人日</a:t>
            </a:r>
            <a:endParaRPr lang="en-US" sz="1950" dirty="0"/>
          </a:p>
        </p:txBody>
      </p:sp>
      <p:sp>
        <p:nvSpPr>
          <p:cNvPr id="68" name="Shape 66"/>
          <p:cNvSpPr/>
          <p:nvPr/>
        </p:nvSpPr>
        <p:spPr>
          <a:xfrm>
            <a:off x="4305300" y="6204314"/>
            <a:ext cx="1409700" cy="89535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4267200" y="6204314"/>
            <a:ext cx="148590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4305300" y="7099664"/>
            <a:ext cx="1409700" cy="495300"/>
          </a:xfrm>
          <a:prstGeom prst="rect">
            <a:avLst/>
          </a:prstGeom>
          <a:solidFill>
            <a:srgbClr val="3D8F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4267200" y="7099664"/>
            <a:ext cx="1485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4305300" y="7594964"/>
            <a:ext cx="1409700" cy="1200150"/>
          </a:xfrm>
          <a:prstGeom prst="rect">
            <a:avLst/>
          </a:prstGeom>
          <a:solidFill>
            <a:srgbClr val="A9CFE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3" name="Text 71"/>
          <p:cNvSpPr/>
          <p:nvPr/>
        </p:nvSpPr>
        <p:spPr>
          <a:xfrm>
            <a:off x="4267200" y="7594964"/>
            <a:ext cx="14859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7231686" y="5794739"/>
            <a:ext cx="1271843" cy="1085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73"/>
          <p:cNvSpPr/>
          <p:nvPr/>
        </p:nvSpPr>
        <p:spPr>
          <a:xfrm>
            <a:off x="7524665" y="5651618"/>
            <a:ext cx="685800" cy="342900"/>
          </a:xfrm>
          <a:prstGeom prst="rect">
            <a:avLst/>
          </a:prstGeom>
          <a:solidFill>
            <a:srgbClr val="B447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Text 74"/>
          <p:cNvSpPr/>
          <p:nvPr/>
        </p:nvSpPr>
        <p:spPr>
          <a:xfrm>
            <a:off x="7623063" y="5740572"/>
            <a:ext cx="5257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6666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7441407" y="6175739"/>
            <a:ext cx="928602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66379"/>
              </a:lnSpc>
              <a:buNone/>
            </a:pPr>
            <a:r>
              <a:rPr lang="en-US" sz="3300" b="1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18h</a:t>
            </a:r>
            <a:endParaRPr lang="en-US" sz="3300" dirty="0"/>
          </a:p>
        </p:txBody>
      </p:sp>
      <p:sp>
        <p:nvSpPr>
          <p:cNvPr id="78" name="Text 76"/>
          <p:cNvSpPr/>
          <p:nvPr/>
        </p:nvSpPr>
        <p:spPr>
          <a:xfrm>
            <a:off x="7345986" y="6632939"/>
            <a:ext cx="1119443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66912"/>
              </a:lnSpc>
              <a:buNone/>
            </a:pPr>
            <a:r>
              <a:rPr lang="en-US" sz="1950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2.25人日</a:t>
            </a:r>
            <a:endParaRPr lang="en-US" sz="1950" dirty="0"/>
          </a:p>
        </p:txBody>
      </p:sp>
      <p:sp>
        <p:nvSpPr>
          <p:cNvPr id="79" name="Shape 77"/>
          <p:cNvSpPr/>
          <p:nvPr/>
        </p:nvSpPr>
        <p:spPr>
          <a:xfrm>
            <a:off x="7162801" y="6994889"/>
            <a:ext cx="1409700" cy="600075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8"/>
          <p:cNvSpPr/>
          <p:nvPr/>
        </p:nvSpPr>
        <p:spPr>
          <a:xfrm>
            <a:off x="7124701" y="6994889"/>
            <a:ext cx="14859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7162801" y="7594964"/>
            <a:ext cx="1409700" cy="400050"/>
          </a:xfrm>
          <a:prstGeom prst="rect">
            <a:avLst/>
          </a:prstGeom>
          <a:solidFill>
            <a:srgbClr val="3D8F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2" name="Text 80"/>
          <p:cNvSpPr/>
          <p:nvPr/>
        </p:nvSpPr>
        <p:spPr>
          <a:xfrm>
            <a:off x="7124701" y="7594964"/>
            <a:ext cx="14859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7162801" y="7995014"/>
            <a:ext cx="1409700" cy="800100"/>
          </a:xfrm>
          <a:prstGeom prst="rect">
            <a:avLst/>
          </a:prstGeom>
          <a:solidFill>
            <a:srgbClr val="A9CFE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4" name="Text 82"/>
          <p:cNvSpPr/>
          <p:nvPr/>
        </p:nvSpPr>
        <p:spPr>
          <a:xfrm>
            <a:off x="7124701" y="7995014"/>
            <a:ext cx="1485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1885950" y="9020992"/>
            <a:ext cx="609600" cy="4408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人手</a:t>
            </a:r>
            <a:endParaRPr lang="en-US" sz="2100" dirty="0"/>
          </a:p>
        </p:txBody>
      </p:sp>
      <p:sp>
        <p:nvSpPr>
          <p:cNvPr id="86" name="Text 84"/>
          <p:cNvSpPr/>
          <p:nvPr/>
        </p:nvSpPr>
        <p:spPr>
          <a:xfrm>
            <a:off x="1905000" y="9480914"/>
            <a:ext cx="571500" cy="40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</a:t>
            </a:r>
            <a:endParaRPr lang="en-US" sz="1950" dirty="0"/>
          </a:p>
        </p:txBody>
      </p:sp>
      <p:sp>
        <p:nvSpPr>
          <p:cNvPr id="87" name="Text 85"/>
          <p:cNvSpPr/>
          <p:nvPr/>
        </p:nvSpPr>
        <p:spPr>
          <a:xfrm>
            <a:off x="3932464" y="9020992"/>
            <a:ext cx="2370815" cy="4408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AI活用（昨年度）</a:t>
            </a:r>
            <a:endParaRPr lang="en-US" sz="2100" dirty="0"/>
          </a:p>
        </p:txBody>
      </p:sp>
      <p:sp>
        <p:nvSpPr>
          <p:cNvPr id="88" name="Text 86"/>
          <p:cNvSpPr/>
          <p:nvPr/>
        </p:nvSpPr>
        <p:spPr>
          <a:xfrm>
            <a:off x="4598109" y="9480914"/>
            <a:ext cx="900198" cy="40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−38%</a:t>
            </a:r>
            <a:endParaRPr lang="en-US" sz="1950" dirty="0"/>
          </a:p>
        </p:txBody>
      </p:sp>
      <p:sp>
        <p:nvSpPr>
          <p:cNvPr id="89" name="Text 87"/>
          <p:cNvSpPr/>
          <p:nvPr/>
        </p:nvSpPr>
        <p:spPr>
          <a:xfrm>
            <a:off x="6656615" y="9020992"/>
            <a:ext cx="2664185" cy="4408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AI活用（今期目標）</a:t>
            </a:r>
            <a:endParaRPr lang="en-US" sz="2100" dirty="0"/>
          </a:p>
        </p:txBody>
      </p:sp>
      <p:sp>
        <p:nvSpPr>
          <p:cNvPr id="90" name="Text 88"/>
          <p:cNvSpPr/>
          <p:nvPr/>
        </p:nvSpPr>
        <p:spPr>
          <a:xfrm>
            <a:off x="7455609" y="9480914"/>
            <a:ext cx="900198" cy="40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−57%</a:t>
            </a:r>
            <a:endParaRPr lang="en-US" sz="1950" dirty="0"/>
          </a:p>
        </p:txBody>
      </p:sp>
      <p:sp>
        <p:nvSpPr>
          <p:cNvPr id="91" name="Shape 89"/>
          <p:cNvSpPr/>
          <p:nvPr/>
        </p:nvSpPr>
        <p:spPr>
          <a:xfrm>
            <a:off x="9791700" y="2525453"/>
            <a:ext cx="7810501" cy="2419350"/>
          </a:xfrm>
          <a:prstGeom prst="rect">
            <a:avLst/>
          </a:prstGeom>
          <a:ln w="5443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Text 90"/>
          <p:cNvSpPr/>
          <p:nvPr/>
        </p:nvSpPr>
        <p:spPr>
          <a:xfrm>
            <a:off x="10082894" y="2740446"/>
            <a:ext cx="7071875" cy="44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工程ごとの工数（h）と削減率（人手比）</a:t>
            </a:r>
            <a:endParaRPr lang="en-US" sz="2100" dirty="0"/>
          </a:p>
        </p:txBody>
      </p:sp>
      <p:sp>
        <p:nvSpPr>
          <p:cNvPr id="93" name="Shape 91"/>
          <p:cNvSpPr/>
          <p:nvPr/>
        </p:nvSpPr>
        <p:spPr>
          <a:xfrm>
            <a:off x="10082894" y="3375899"/>
            <a:ext cx="209550" cy="20955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4" name="Text 92"/>
          <p:cNvSpPr/>
          <p:nvPr/>
        </p:nvSpPr>
        <p:spPr>
          <a:xfrm>
            <a:off x="10444844" y="3295617"/>
            <a:ext cx="4410186" cy="40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</a:t>
            </a:r>
            <a:endParaRPr lang="en-US" sz="1950" dirty="0"/>
          </a:p>
        </p:txBody>
      </p:sp>
      <p:sp>
        <p:nvSpPr>
          <p:cNvPr id="95" name="Text 93"/>
          <p:cNvSpPr/>
          <p:nvPr/>
        </p:nvSpPr>
        <p:spPr>
          <a:xfrm>
            <a:off x="14357033" y="3295617"/>
            <a:ext cx="1591925" cy="40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 → 9 → 6</a:t>
            </a:r>
            <a:endParaRPr lang="en-US" sz="1950" dirty="0"/>
          </a:p>
        </p:txBody>
      </p:sp>
      <p:sp>
        <p:nvSpPr>
          <p:cNvPr id="96" name="Text 94"/>
          <p:cNvSpPr/>
          <p:nvPr/>
        </p:nvSpPr>
        <p:spPr>
          <a:xfrm>
            <a:off x="15973669" y="3295617"/>
            <a:ext cx="1181100" cy="40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−57%</a:t>
            </a:r>
            <a:endParaRPr lang="en-US" sz="1950" dirty="0"/>
          </a:p>
        </p:txBody>
      </p:sp>
      <p:sp>
        <p:nvSpPr>
          <p:cNvPr id="97" name="Shape 95"/>
          <p:cNvSpPr/>
          <p:nvPr/>
        </p:nvSpPr>
        <p:spPr>
          <a:xfrm>
            <a:off x="10082894" y="3898414"/>
            <a:ext cx="209550" cy="209550"/>
          </a:xfrm>
          <a:prstGeom prst="rect">
            <a:avLst/>
          </a:prstGeom>
          <a:solidFill>
            <a:srgbClr val="3D8F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8" name="Text 96"/>
          <p:cNvSpPr/>
          <p:nvPr/>
        </p:nvSpPr>
        <p:spPr>
          <a:xfrm>
            <a:off x="10444844" y="3818132"/>
            <a:ext cx="4579323" cy="40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UTケース作成</a:t>
            </a:r>
            <a:endParaRPr lang="en-US" sz="1950" dirty="0"/>
          </a:p>
        </p:txBody>
      </p:sp>
      <p:sp>
        <p:nvSpPr>
          <p:cNvPr id="99" name="Text 97"/>
          <p:cNvSpPr/>
          <p:nvPr/>
        </p:nvSpPr>
        <p:spPr>
          <a:xfrm>
            <a:off x="14510794" y="3818132"/>
            <a:ext cx="1422788" cy="40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→ 5 → 4</a:t>
            </a:r>
            <a:endParaRPr lang="en-US" sz="1950" dirty="0"/>
          </a:p>
        </p:txBody>
      </p:sp>
      <p:sp>
        <p:nvSpPr>
          <p:cNvPr id="100" name="Text 98"/>
          <p:cNvSpPr/>
          <p:nvPr/>
        </p:nvSpPr>
        <p:spPr>
          <a:xfrm>
            <a:off x="15973669" y="3818132"/>
            <a:ext cx="1181100" cy="40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−33%</a:t>
            </a:r>
            <a:endParaRPr lang="en-US" sz="1950" dirty="0"/>
          </a:p>
        </p:txBody>
      </p:sp>
      <p:sp>
        <p:nvSpPr>
          <p:cNvPr id="101" name="Shape 99"/>
          <p:cNvSpPr/>
          <p:nvPr/>
        </p:nvSpPr>
        <p:spPr>
          <a:xfrm>
            <a:off x="10082894" y="4420928"/>
            <a:ext cx="209550" cy="209550"/>
          </a:xfrm>
          <a:prstGeom prst="rect">
            <a:avLst/>
          </a:prstGeom>
          <a:solidFill>
            <a:srgbClr val="A9CFE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2" name="Text 100"/>
          <p:cNvSpPr/>
          <p:nvPr/>
        </p:nvSpPr>
        <p:spPr>
          <a:xfrm>
            <a:off x="10444844" y="4340646"/>
            <a:ext cx="4240955" cy="40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UT実施</a:t>
            </a:r>
            <a:endParaRPr lang="en-US" sz="1950" dirty="0"/>
          </a:p>
        </p:txBody>
      </p:sp>
      <p:sp>
        <p:nvSpPr>
          <p:cNvPr id="103" name="Text 101"/>
          <p:cNvSpPr/>
          <p:nvPr/>
        </p:nvSpPr>
        <p:spPr>
          <a:xfrm>
            <a:off x="14203187" y="4340646"/>
            <a:ext cx="1761156" cy="40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 → 12 → 8</a:t>
            </a:r>
            <a:endParaRPr lang="en-US" sz="1950" dirty="0"/>
          </a:p>
        </p:txBody>
      </p:sp>
      <p:sp>
        <p:nvSpPr>
          <p:cNvPr id="104" name="Text 102"/>
          <p:cNvSpPr/>
          <p:nvPr/>
        </p:nvSpPr>
        <p:spPr>
          <a:xfrm>
            <a:off x="15973669" y="4340646"/>
            <a:ext cx="1181100" cy="408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−64%</a:t>
            </a:r>
            <a:endParaRPr lang="en-US" sz="1950" dirty="0"/>
          </a:p>
        </p:txBody>
      </p:sp>
      <p:sp>
        <p:nvSpPr>
          <p:cNvPr id="105" name="Shape 103"/>
          <p:cNvSpPr/>
          <p:nvPr/>
        </p:nvSpPr>
        <p:spPr>
          <a:xfrm>
            <a:off x="9791700" y="5097203"/>
            <a:ext cx="7810501" cy="2673123"/>
          </a:xfrm>
          <a:prstGeom prst="rect">
            <a:avLst/>
          </a:prstGeom>
          <a:solidFill>
            <a:srgbClr val="1421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6" name="Text 104"/>
          <p:cNvSpPr/>
          <p:nvPr/>
        </p:nvSpPr>
        <p:spPr>
          <a:xfrm>
            <a:off x="10077450" y="5306753"/>
            <a:ext cx="7382119" cy="44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" dirty="0">
                <a:solidFill>
                  <a:srgbClr val="9FB6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API1本あたりの費用</a:t>
            </a:r>
            <a:endParaRPr lang="en-US" sz="2100" dirty="0"/>
          </a:p>
        </p:txBody>
      </p:sp>
      <p:sp>
        <p:nvSpPr>
          <p:cNvPr id="107" name="Text 105"/>
          <p:cNvSpPr/>
          <p:nvPr/>
        </p:nvSpPr>
        <p:spPr>
          <a:xfrm>
            <a:off x="10382165" y="5861924"/>
            <a:ext cx="1278389" cy="408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FB6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人手</a:t>
            </a:r>
            <a:endParaRPr lang="en-US" sz="1950" dirty="0"/>
          </a:p>
        </p:txBody>
      </p:sp>
      <p:sp>
        <p:nvSpPr>
          <p:cNvPr id="108" name="Text 106"/>
          <p:cNvSpPr/>
          <p:nvPr/>
        </p:nvSpPr>
        <p:spPr>
          <a:xfrm>
            <a:off x="10382165" y="6308239"/>
            <a:ext cx="1760961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67083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26.3万</a:t>
            </a:r>
            <a:endParaRPr lang="en-US" sz="3450" dirty="0"/>
          </a:p>
        </p:txBody>
      </p:sp>
      <p:sp>
        <p:nvSpPr>
          <p:cNvPr id="109" name="Text 107"/>
          <p:cNvSpPr/>
          <p:nvPr/>
        </p:nvSpPr>
        <p:spPr>
          <a:xfrm>
            <a:off x="12845909" y="5861924"/>
            <a:ext cx="1664885" cy="408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FB6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AI（昨年度）</a:t>
            </a:r>
            <a:endParaRPr lang="en-US" sz="1950" dirty="0"/>
          </a:p>
        </p:txBody>
      </p:sp>
      <p:sp>
        <p:nvSpPr>
          <p:cNvPr id="110" name="Text 108"/>
          <p:cNvSpPr/>
          <p:nvPr/>
        </p:nvSpPr>
        <p:spPr>
          <a:xfrm>
            <a:off x="12845909" y="6308239"/>
            <a:ext cx="1761045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67083"/>
              </a:lnSpc>
              <a:buNone/>
            </a:pPr>
            <a:r>
              <a:rPr lang="en-US" sz="3450" b="1" dirty="0">
                <a:solidFill>
                  <a:srgbClr val="7FC4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16.3万</a:t>
            </a:r>
            <a:endParaRPr lang="en-US" sz="3450" dirty="0"/>
          </a:p>
        </p:txBody>
      </p:sp>
      <p:sp>
        <p:nvSpPr>
          <p:cNvPr id="111" name="Text 109"/>
          <p:cNvSpPr/>
          <p:nvPr/>
        </p:nvSpPr>
        <p:spPr>
          <a:xfrm>
            <a:off x="15309737" y="5861924"/>
            <a:ext cx="2024786" cy="408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FB6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AI（今期）</a:t>
            </a:r>
            <a:endParaRPr lang="en-US" sz="1950" dirty="0"/>
          </a:p>
        </p:txBody>
      </p:sp>
      <p:sp>
        <p:nvSpPr>
          <p:cNvPr id="112" name="Text 110"/>
          <p:cNvSpPr/>
          <p:nvPr/>
        </p:nvSpPr>
        <p:spPr>
          <a:xfrm>
            <a:off x="15309737" y="6308239"/>
            <a:ext cx="1962263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67083"/>
              </a:lnSpc>
              <a:buNone/>
            </a:pPr>
            <a:r>
              <a:rPr lang="en-US" sz="3450" b="1" dirty="0">
                <a:solidFill>
                  <a:srgbClr val="7FC4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11.3万</a:t>
            </a:r>
            <a:endParaRPr lang="en-US" sz="3450" dirty="0"/>
          </a:p>
        </p:txBody>
      </p:sp>
      <p:sp>
        <p:nvSpPr>
          <p:cNvPr id="113" name="Text 111"/>
          <p:cNvSpPr/>
          <p:nvPr/>
        </p:nvSpPr>
        <p:spPr>
          <a:xfrm>
            <a:off x="10382166" y="6898789"/>
            <a:ext cx="677260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65"/>
              </a:lnSpc>
              <a:buNone/>
            </a:pPr>
            <a:r>
              <a:rPr lang="en-US" sz="1875" dirty="0">
                <a:solidFill>
                  <a:srgbClr val="9FB6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SE単価1人月100万円（仮）、1人月20人日で算出。</a:t>
            </a:r>
          </a:p>
          <a:p>
            <a:pPr marL="0" indent="0" algn="l">
              <a:lnSpc>
                <a:spcPct val="90865"/>
              </a:lnSpc>
              <a:buNone/>
            </a:pPr>
            <a:r>
              <a:rPr lang="en-US" sz="1875" dirty="0">
                <a:solidFill>
                  <a:srgbClr val="9FB6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人件費のみで、AI利用料や整備コストは含まない。</a:t>
            </a:r>
            <a:endParaRPr lang="en-US" sz="1875" dirty="0"/>
          </a:p>
        </p:txBody>
      </p:sp>
      <p:sp>
        <p:nvSpPr>
          <p:cNvPr id="114" name="Shape 112"/>
          <p:cNvSpPr/>
          <p:nvPr/>
        </p:nvSpPr>
        <p:spPr>
          <a:xfrm>
            <a:off x="9791700" y="7922726"/>
            <a:ext cx="7810501" cy="1936296"/>
          </a:xfrm>
          <a:prstGeom prst="rect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5" name="Shape 113"/>
          <p:cNvSpPr/>
          <p:nvPr/>
        </p:nvSpPr>
        <p:spPr>
          <a:xfrm>
            <a:off x="9791700" y="7922726"/>
            <a:ext cx="54429" cy="1936296"/>
          </a:xfrm>
          <a:prstGeom prst="rect">
            <a:avLst/>
          </a:prstGeom>
          <a:solidFill>
            <a:srgbClr val="1D6FA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6" name="Text 114"/>
          <p:cNvSpPr/>
          <p:nvPr/>
        </p:nvSpPr>
        <p:spPr>
          <a:xfrm>
            <a:off x="10131879" y="8228421"/>
            <a:ext cx="7400109" cy="681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85"/>
              </a:lnSpc>
              <a:buNone/>
            </a:pPr>
            <a:r>
              <a:rPr lang="en-US" sz="1950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減るのはコーディングとUTテストクラス作成。</a:t>
            </a:r>
          </a:p>
          <a:p>
            <a:pPr marL="0" indent="0" algn="l">
              <a:lnSpc>
                <a:spcPct val="86985"/>
              </a:lnSpc>
              <a:buNone/>
            </a:pPr>
            <a:r>
              <a:rPr lang="en-US" sz="1950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生成物を読み解く工程は逆に増える。</a:t>
            </a:r>
            <a:endParaRPr lang="en-US" sz="1950" dirty="0"/>
          </a:p>
        </p:txBody>
      </p:sp>
      <p:sp>
        <p:nvSpPr>
          <p:cNvPr id="117" name="Text 115"/>
          <p:cNvSpPr/>
          <p:nvPr/>
        </p:nvSpPr>
        <p:spPr>
          <a:xfrm>
            <a:off x="10131879" y="8967460"/>
            <a:ext cx="7400109" cy="8353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14"/>
              </a:lnSpc>
              <a:buNone/>
            </a:pPr>
            <a:r>
              <a:rPr lang="en-US" sz="2325" b="1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手を動かす時間が減った分、</a:t>
            </a:r>
          </a:p>
          <a:p>
            <a:pPr marL="0" indent="0" algn="l">
              <a:lnSpc>
                <a:spcPct val="89314"/>
              </a:lnSpc>
              <a:buNone/>
            </a:pPr>
            <a:r>
              <a:rPr lang="en-US" sz="2325" b="1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設計を読む力とレビューする力が成果を決める。</a:t>
            </a:r>
            <a:endParaRPr lang="en-US" sz="23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8779"/>
            <a:ext cx="76200" cy="438150"/>
          </a:xfrm>
          <a:prstGeom prst="roundRect">
            <a:avLst>
              <a:gd name="adj" fmla="val 12500"/>
            </a:avLst>
          </a:prstGeom>
          <a:solidFill>
            <a:srgbClr val="1D6FA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90600" y="533400"/>
            <a:ext cx="3682654" cy="645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974"/>
              </a:lnSpc>
              <a:buNone/>
            </a:pPr>
            <a:r>
              <a:rPr lang="en-US" sz="4350" b="1" kern="0" spc="43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工程別の内訳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90600" y="1293444"/>
            <a:ext cx="14840447" cy="46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2400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すべての作業が減るわけではない。生成物を読み解く工程は逆に増える。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2356927"/>
            <a:ext cx="1793251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85800" y="1929663"/>
            <a:ext cx="1640851" cy="3891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2479052" y="2356927"/>
            <a:ext cx="2849591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479052" y="1929663"/>
            <a:ext cx="2782679" cy="3891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作業内容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328642" y="2356927"/>
            <a:ext cx="1333500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04842" y="1929663"/>
            <a:ext cx="1104900" cy="389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人手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662143" y="1872513"/>
            <a:ext cx="2362200" cy="489857"/>
          </a:xfrm>
          <a:prstGeom prst="rect">
            <a:avLst/>
          </a:prstGeom>
          <a:solidFill>
            <a:srgbClr val="F2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662143" y="2356927"/>
            <a:ext cx="2362200" cy="9525"/>
          </a:xfrm>
          <a:prstGeom prst="rect">
            <a:avLst/>
          </a:prstGeom>
          <a:solidFill>
            <a:srgbClr val="9EC6D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776443" y="1929663"/>
            <a:ext cx="2133600" cy="3891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AI活用（昨年度）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024343" y="1872513"/>
            <a:ext cx="2467230" cy="489857"/>
          </a:xfrm>
          <a:prstGeom prst="rect">
            <a:avLst/>
          </a:prstGeom>
          <a:solidFill>
            <a:srgbClr val="EAF1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9024343" y="2356927"/>
            <a:ext cx="2467230" cy="9525"/>
          </a:xfrm>
          <a:prstGeom prst="rect">
            <a:avLst/>
          </a:prstGeom>
          <a:solidFill>
            <a:srgbClr val="7FA9C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138643" y="1929663"/>
            <a:ext cx="2238630" cy="3891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AI活用（今期目標）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491573" y="2356927"/>
            <a:ext cx="6110628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1720173" y="1929663"/>
            <a:ext cx="6065347" cy="389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685800" y="2792356"/>
            <a:ext cx="179325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85800" y="2400470"/>
            <a:ext cx="1640851" cy="3918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2479052" y="2792356"/>
            <a:ext cx="284959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479052" y="2400470"/>
            <a:ext cx="2782679" cy="3918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設計書読み込み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5328642" y="2792356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404842" y="2400470"/>
            <a:ext cx="11049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6662143" y="2362370"/>
            <a:ext cx="10287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662143" y="2792356"/>
            <a:ext cx="10287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738343" y="2400470"/>
            <a:ext cx="8763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7690843" y="2362370"/>
            <a:ext cx="13335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690843" y="2792356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7690843" y="2400470"/>
            <a:ext cx="11811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-33%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9024343" y="2362370"/>
            <a:ext cx="1074369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9024343" y="2792356"/>
            <a:ext cx="1074369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9100543" y="2400470"/>
            <a:ext cx="921969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0098711" y="2362370"/>
            <a:ext cx="1392861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10098711" y="2792356"/>
            <a:ext cx="139286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0098711" y="2400470"/>
            <a:ext cx="1240461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-33%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1491573" y="2792356"/>
            <a:ext cx="6110628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11720173" y="2400470"/>
            <a:ext cx="6065347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人手はコーディングのため詳細な理解が必要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685800" y="3227784"/>
            <a:ext cx="179325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2479052" y="3227784"/>
            <a:ext cx="284959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2479052" y="2835899"/>
            <a:ext cx="2782679" cy="3918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コーディング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5328642" y="3227784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5404842" y="2835899"/>
            <a:ext cx="11049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6662143" y="2797799"/>
            <a:ext cx="10287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6662143" y="3227784"/>
            <a:ext cx="10287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6738343" y="2835899"/>
            <a:ext cx="8763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7690843" y="2797799"/>
            <a:ext cx="13335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7690843" y="3227784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7690843" y="2835899"/>
            <a:ext cx="11811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-71%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9024343" y="2797799"/>
            <a:ext cx="1074369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9024343" y="3227784"/>
            <a:ext cx="1074369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9100543" y="2835899"/>
            <a:ext cx="921969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10098711" y="2797799"/>
            <a:ext cx="1392861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10098711" y="3227784"/>
            <a:ext cx="139286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10098711" y="2835899"/>
            <a:ext cx="1240461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-86%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1491573" y="3227784"/>
            <a:ext cx="6110628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11720173" y="2835899"/>
            <a:ext cx="6065347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プロンプト実行のみで大きく軽減（調整は多少発生）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685800" y="3663213"/>
            <a:ext cx="179325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2479052" y="3663213"/>
            <a:ext cx="284959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2479052" y="3271327"/>
            <a:ext cx="2782679" cy="3918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セルフチェック・見直し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5328642" y="3663213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5404842" y="3271327"/>
            <a:ext cx="11049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75" dirty="0"/>
          </a:p>
        </p:txBody>
      </p:sp>
      <p:sp>
        <p:nvSpPr>
          <p:cNvPr id="63" name="Shape 61"/>
          <p:cNvSpPr/>
          <p:nvPr/>
        </p:nvSpPr>
        <p:spPr>
          <a:xfrm>
            <a:off x="6662143" y="3233227"/>
            <a:ext cx="10287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6662143" y="3663213"/>
            <a:ext cx="10287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6738343" y="3271327"/>
            <a:ext cx="8763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7690843" y="3233227"/>
            <a:ext cx="13335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Shape 65"/>
          <p:cNvSpPr/>
          <p:nvPr/>
        </p:nvSpPr>
        <p:spPr>
          <a:xfrm>
            <a:off x="7690843" y="3663213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>
            <a:off x="7690843" y="3271327"/>
            <a:ext cx="11811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B447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200%</a:t>
            </a:r>
            <a:endParaRPr lang="en-US" sz="1875" dirty="0"/>
          </a:p>
        </p:txBody>
      </p:sp>
      <p:sp>
        <p:nvSpPr>
          <p:cNvPr id="69" name="Shape 67"/>
          <p:cNvSpPr/>
          <p:nvPr/>
        </p:nvSpPr>
        <p:spPr>
          <a:xfrm>
            <a:off x="9024343" y="3233227"/>
            <a:ext cx="1074369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" name="Shape 68"/>
          <p:cNvSpPr/>
          <p:nvPr/>
        </p:nvSpPr>
        <p:spPr>
          <a:xfrm>
            <a:off x="9024343" y="3663213"/>
            <a:ext cx="1074369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9100543" y="3271327"/>
            <a:ext cx="921969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10098711" y="3233227"/>
            <a:ext cx="1392861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71"/>
          <p:cNvSpPr/>
          <p:nvPr/>
        </p:nvSpPr>
        <p:spPr>
          <a:xfrm>
            <a:off x="10098711" y="3663213"/>
            <a:ext cx="139286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10098711" y="3271327"/>
            <a:ext cx="1240461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B447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100%</a:t>
            </a:r>
            <a:endParaRPr lang="en-US" sz="1875" dirty="0"/>
          </a:p>
        </p:txBody>
      </p:sp>
      <p:sp>
        <p:nvSpPr>
          <p:cNvPr id="75" name="Shape 73"/>
          <p:cNvSpPr/>
          <p:nvPr/>
        </p:nvSpPr>
        <p:spPr>
          <a:xfrm>
            <a:off x="11491573" y="3663213"/>
            <a:ext cx="6110628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Text 74"/>
          <p:cNvSpPr/>
          <p:nvPr/>
        </p:nvSpPr>
        <p:spPr>
          <a:xfrm>
            <a:off x="11720173" y="3271327"/>
            <a:ext cx="6065347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B447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設計と生成物を読み解く必要があり増加</a:t>
            </a:r>
            <a:endParaRPr lang="en-US" sz="1875" dirty="0"/>
          </a:p>
        </p:txBody>
      </p:sp>
      <p:sp>
        <p:nvSpPr>
          <p:cNvPr id="77" name="Shape 75"/>
          <p:cNvSpPr/>
          <p:nvPr/>
        </p:nvSpPr>
        <p:spPr>
          <a:xfrm>
            <a:off x="685800" y="4098642"/>
            <a:ext cx="179325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8" name="Shape 76"/>
          <p:cNvSpPr/>
          <p:nvPr/>
        </p:nvSpPr>
        <p:spPr>
          <a:xfrm>
            <a:off x="2479052" y="4098642"/>
            <a:ext cx="284959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9" name="Text 77"/>
          <p:cNvSpPr/>
          <p:nvPr/>
        </p:nvSpPr>
        <p:spPr>
          <a:xfrm>
            <a:off x="2479052" y="3706756"/>
            <a:ext cx="2782679" cy="3918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レビュー指摘対応</a:t>
            </a:r>
            <a:endParaRPr lang="en-US" sz="1875" dirty="0"/>
          </a:p>
        </p:txBody>
      </p:sp>
      <p:sp>
        <p:nvSpPr>
          <p:cNvPr id="80" name="Shape 78"/>
          <p:cNvSpPr/>
          <p:nvPr/>
        </p:nvSpPr>
        <p:spPr>
          <a:xfrm>
            <a:off x="5328642" y="4098642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/>
          <p:cNvSpPr/>
          <p:nvPr/>
        </p:nvSpPr>
        <p:spPr>
          <a:xfrm>
            <a:off x="5404842" y="3706756"/>
            <a:ext cx="11049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75" dirty="0"/>
          </a:p>
        </p:txBody>
      </p:sp>
      <p:sp>
        <p:nvSpPr>
          <p:cNvPr id="82" name="Shape 80"/>
          <p:cNvSpPr/>
          <p:nvPr/>
        </p:nvSpPr>
        <p:spPr>
          <a:xfrm>
            <a:off x="6662143" y="3668656"/>
            <a:ext cx="10287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3" name="Shape 81"/>
          <p:cNvSpPr/>
          <p:nvPr/>
        </p:nvSpPr>
        <p:spPr>
          <a:xfrm>
            <a:off x="6662143" y="4098642"/>
            <a:ext cx="10287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4" name="Text 82"/>
          <p:cNvSpPr/>
          <p:nvPr/>
        </p:nvSpPr>
        <p:spPr>
          <a:xfrm>
            <a:off x="6738343" y="3706756"/>
            <a:ext cx="8763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85" name="Shape 83"/>
          <p:cNvSpPr/>
          <p:nvPr/>
        </p:nvSpPr>
        <p:spPr>
          <a:xfrm>
            <a:off x="7690843" y="3668656"/>
            <a:ext cx="13335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6" name="Shape 84"/>
          <p:cNvSpPr/>
          <p:nvPr/>
        </p:nvSpPr>
        <p:spPr>
          <a:xfrm>
            <a:off x="7690843" y="4098642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7" name="Text 85"/>
          <p:cNvSpPr/>
          <p:nvPr/>
        </p:nvSpPr>
        <p:spPr>
          <a:xfrm>
            <a:off x="7690843" y="3706756"/>
            <a:ext cx="11811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-33%</a:t>
            </a:r>
            <a:endParaRPr lang="en-US" sz="1875" dirty="0"/>
          </a:p>
        </p:txBody>
      </p:sp>
      <p:sp>
        <p:nvSpPr>
          <p:cNvPr id="88" name="Shape 86"/>
          <p:cNvSpPr/>
          <p:nvPr/>
        </p:nvSpPr>
        <p:spPr>
          <a:xfrm>
            <a:off x="9024343" y="3668656"/>
            <a:ext cx="1074369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9" name="Shape 87"/>
          <p:cNvSpPr/>
          <p:nvPr/>
        </p:nvSpPr>
        <p:spPr>
          <a:xfrm>
            <a:off x="9024343" y="4098642"/>
            <a:ext cx="1074369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0" name="Text 88"/>
          <p:cNvSpPr/>
          <p:nvPr/>
        </p:nvSpPr>
        <p:spPr>
          <a:xfrm>
            <a:off x="9100543" y="3706756"/>
            <a:ext cx="921969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75" dirty="0"/>
          </a:p>
        </p:txBody>
      </p:sp>
      <p:sp>
        <p:nvSpPr>
          <p:cNvPr id="91" name="Shape 89"/>
          <p:cNvSpPr/>
          <p:nvPr/>
        </p:nvSpPr>
        <p:spPr>
          <a:xfrm>
            <a:off x="10098711" y="3668656"/>
            <a:ext cx="1392861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2" name="Shape 90"/>
          <p:cNvSpPr/>
          <p:nvPr/>
        </p:nvSpPr>
        <p:spPr>
          <a:xfrm>
            <a:off x="10098711" y="4098642"/>
            <a:ext cx="139286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3" name="Text 91"/>
          <p:cNvSpPr/>
          <p:nvPr/>
        </p:nvSpPr>
        <p:spPr>
          <a:xfrm>
            <a:off x="10098711" y="3706756"/>
            <a:ext cx="1240461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-67%</a:t>
            </a:r>
            <a:endParaRPr lang="en-US" sz="1875" dirty="0"/>
          </a:p>
        </p:txBody>
      </p:sp>
      <p:sp>
        <p:nvSpPr>
          <p:cNvPr id="94" name="Shape 92"/>
          <p:cNvSpPr/>
          <p:nvPr/>
        </p:nvSpPr>
        <p:spPr>
          <a:xfrm>
            <a:off x="11491573" y="4098642"/>
            <a:ext cx="6110628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5" name="Text 93"/>
          <p:cNvSpPr/>
          <p:nvPr/>
        </p:nvSpPr>
        <p:spPr>
          <a:xfrm>
            <a:off x="11720173" y="3706756"/>
            <a:ext cx="6065347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修正方法を検討する手間が省ける</a:t>
            </a:r>
            <a:endParaRPr lang="en-US" sz="1875" dirty="0"/>
          </a:p>
        </p:txBody>
      </p:sp>
      <p:sp>
        <p:nvSpPr>
          <p:cNvPr id="96" name="Shape 94"/>
          <p:cNvSpPr/>
          <p:nvPr/>
        </p:nvSpPr>
        <p:spPr>
          <a:xfrm>
            <a:off x="685800" y="4534070"/>
            <a:ext cx="179325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7" name="Shape 95"/>
          <p:cNvSpPr/>
          <p:nvPr/>
        </p:nvSpPr>
        <p:spPr>
          <a:xfrm>
            <a:off x="685800" y="4104085"/>
            <a:ext cx="1793251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8" name="Text 96"/>
          <p:cNvSpPr/>
          <p:nvPr/>
        </p:nvSpPr>
        <p:spPr>
          <a:xfrm>
            <a:off x="685800" y="4147628"/>
            <a:ext cx="1640851" cy="3864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UTケース作成</a:t>
            </a:r>
            <a:endParaRPr lang="en-US" sz="1875" dirty="0"/>
          </a:p>
        </p:txBody>
      </p:sp>
      <p:sp>
        <p:nvSpPr>
          <p:cNvPr id="99" name="Shape 97"/>
          <p:cNvSpPr/>
          <p:nvPr/>
        </p:nvSpPr>
        <p:spPr>
          <a:xfrm>
            <a:off x="2479052" y="4534070"/>
            <a:ext cx="284959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0" name="Shape 98"/>
          <p:cNvSpPr/>
          <p:nvPr/>
        </p:nvSpPr>
        <p:spPr>
          <a:xfrm>
            <a:off x="2479052" y="4104085"/>
            <a:ext cx="2849591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1" name="Text 99"/>
          <p:cNvSpPr/>
          <p:nvPr/>
        </p:nvSpPr>
        <p:spPr>
          <a:xfrm>
            <a:off x="2479052" y="4147628"/>
            <a:ext cx="2782679" cy="3864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UT仕様書作成</a:t>
            </a:r>
            <a:endParaRPr lang="en-US" sz="1875" dirty="0"/>
          </a:p>
        </p:txBody>
      </p:sp>
      <p:sp>
        <p:nvSpPr>
          <p:cNvPr id="102" name="Shape 100"/>
          <p:cNvSpPr/>
          <p:nvPr/>
        </p:nvSpPr>
        <p:spPr>
          <a:xfrm>
            <a:off x="5328642" y="4534070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3" name="Shape 101"/>
          <p:cNvSpPr/>
          <p:nvPr/>
        </p:nvSpPr>
        <p:spPr>
          <a:xfrm>
            <a:off x="5328642" y="4104085"/>
            <a:ext cx="1333500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4" name="Text 102"/>
          <p:cNvSpPr/>
          <p:nvPr/>
        </p:nvSpPr>
        <p:spPr>
          <a:xfrm>
            <a:off x="5404842" y="4147628"/>
            <a:ext cx="1104900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75" dirty="0"/>
          </a:p>
        </p:txBody>
      </p:sp>
      <p:sp>
        <p:nvSpPr>
          <p:cNvPr id="105" name="Shape 103"/>
          <p:cNvSpPr/>
          <p:nvPr/>
        </p:nvSpPr>
        <p:spPr>
          <a:xfrm>
            <a:off x="6662143" y="4104085"/>
            <a:ext cx="10287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6" name="Shape 104"/>
          <p:cNvSpPr/>
          <p:nvPr/>
        </p:nvSpPr>
        <p:spPr>
          <a:xfrm>
            <a:off x="6662143" y="4534070"/>
            <a:ext cx="10287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7" name="Shape 105"/>
          <p:cNvSpPr/>
          <p:nvPr/>
        </p:nvSpPr>
        <p:spPr>
          <a:xfrm>
            <a:off x="6662143" y="4104085"/>
            <a:ext cx="1028700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8" name="Text 106"/>
          <p:cNvSpPr/>
          <p:nvPr/>
        </p:nvSpPr>
        <p:spPr>
          <a:xfrm>
            <a:off x="6738343" y="4147628"/>
            <a:ext cx="876300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109" name="Shape 107"/>
          <p:cNvSpPr/>
          <p:nvPr/>
        </p:nvSpPr>
        <p:spPr>
          <a:xfrm>
            <a:off x="7690843" y="4104085"/>
            <a:ext cx="13335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0" name="Shape 108"/>
          <p:cNvSpPr/>
          <p:nvPr/>
        </p:nvSpPr>
        <p:spPr>
          <a:xfrm>
            <a:off x="7690843" y="4534070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1" name="Shape 109"/>
          <p:cNvSpPr/>
          <p:nvPr/>
        </p:nvSpPr>
        <p:spPr>
          <a:xfrm>
            <a:off x="7690843" y="4104085"/>
            <a:ext cx="1333500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2" name="Text 110"/>
          <p:cNvSpPr/>
          <p:nvPr/>
        </p:nvSpPr>
        <p:spPr>
          <a:xfrm>
            <a:off x="7690843" y="4147628"/>
            <a:ext cx="1181100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-50%</a:t>
            </a:r>
            <a:endParaRPr lang="en-US" sz="1875" dirty="0"/>
          </a:p>
        </p:txBody>
      </p:sp>
      <p:sp>
        <p:nvSpPr>
          <p:cNvPr id="113" name="Shape 111"/>
          <p:cNvSpPr/>
          <p:nvPr/>
        </p:nvSpPr>
        <p:spPr>
          <a:xfrm>
            <a:off x="9024343" y="4104085"/>
            <a:ext cx="1074369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4" name="Shape 112"/>
          <p:cNvSpPr/>
          <p:nvPr/>
        </p:nvSpPr>
        <p:spPr>
          <a:xfrm>
            <a:off x="9024343" y="4534070"/>
            <a:ext cx="1074369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5" name="Shape 113"/>
          <p:cNvSpPr/>
          <p:nvPr/>
        </p:nvSpPr>
        <p:spPr>
          <a:xfrm>
            <a:off x="9024343" y="4104085"/>
            <a:ext cx="1074369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6" name="Text 114"/>
          <p:cNvSpPr/>
          <p:nvPr/>
        </p:nvSpPr>
        <p:spPr>
          <a:xfrm>
            <a:off x="9100543" y="4147628"/>
            <a:ext cx="921969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75" dirty="0"/>
          </a:p>
        </p:txBody>
      </p:sp>
      <p:sp>
        <p:nvSpPr>
          <p:cNvPr id="117" name="Shape 115"/>
          <p:cNvSpPr/>
          <p:nvPr/>
        </p:nvSpPr>
        <p:spPr>
          <a:xfrm>
            <a:off x="10098711" y="4104085"/>
            <a:ext cx="1392861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8" name="Shape 116"/>
          <p:cNvSpPr/>
          <p:nvPr/>
        </p:nvSpPr>
        <p:spPr>
          <a:xfrm>
            <a:off x="10098711" y="4534070"/>
            <a:ext cx="139286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9" name="Shape 117"/>
          <p:cNvSpPr/>
          <p:nvPr/>
        </p:nvSpPr>
        <p:spPr>
          <a:xfrm>
            <a:off x="10098711" y="4104085"/>
            <a:ext cx="1392861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0" name="Text 118"/>
          <p:cNvSpPr/>
          <p:nvPr/>
        </p:nvSpPr>
        <p:spPr>
          <a:xfrm>
            <a:off x="10098711" y="4147628"/>
            <a:ext cx="1240461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-75%</a:t>
            </a:r>
            <a:endParaRPr lang="en-US" sz="1875" dirty="0"/>
          </a:p>
        </p:txBody>
      </p:sp>
      <p:sp>
        <p:nvSpPr>
          <p:cNvPr id="121" name="Shape 119"/>
          <p:cNvSpPr/>
          <p:nvPr/>
        </p:nvSpPr>
        <p:spPr>
          <a:xfrm>
            <a:off x="11491573" y="4534070"/>
            <a:ext cx="6110628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2" name="Shape 120"/>
          <p:cNvSpPr/>
          <p:nvPr/>
        </p:nvSpPr>
        <p:spPr>
          <a:xfrm>
            <a:off x="11491573" y="4104085"/>
            <a:ext cx="6110628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3" name="Text 121"/>
          <p:cNvSpPr/>
          <p:nvPr/>
        </p:nvSpPr>
        <p:spPr>
          <a:xfrm>
            <a:off x="11720173" y="4147628"/>
            <a:ext cx="6065347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パターンの生成を自動化</a:t>
            </a:r>
            <a:endParaRPr lang="en-US" sz="1875" dirty="0"/>
          </a:p>
        </p:txBody>
      </p:sp>
      <p:sp>
        <p:nvSpPr>
          <p:cNvPr id="124" name="Shape 122"/>
          <p:cNvSpPr/>
          <p:nvPr/>
        </p:nvSpPr>
        <p:spPr>
          <a:xfrm>
            <a:off x="685800" y="4969499"/>
            <a:ext cx="179325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5" name="Shape 123"/>
          <p:cNvSpPr/>
          <p:nvPr/>
        </p:nvSpPr>
        <p:spPr>
          <a:xfrm>
            <a:off x="2479052" y="4969499"/>
            <a:ext cx="284959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6" name="Text 124"/>
          <p:cNvSpPr/>
          <p:nvPr/>
        </p:nvSpPr>
        <p:spPr>
          <a:xfrm>
            <a:off x="2479052" y="4577613"/>
            <a:ext cx="2782679" cy="3918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テストデータ作成</a:t>
            </a:r>
            <a:endParaRPr lang="en-US" sz="1875" dirty="0"/>
          </a:p>
        </p:txBody>
      </p:sp>
      <p:sp>
        <p:nvSpPr>
          <p:cNvPr id="127" name="Shape 125"/>
          <p:cNvSpPr/>
          <p:nvPr/>
        </p:nvSpPr>
        <p:spPr>
          <a:xfrm>
            <a:off x="5328642" y="4969499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8" name="Text 126"/>
          <p:cNvSpPr/>
          <p:nvPr/>
        </p:nvSpPr>
        <p:spPr>
          <a:xfrm>
            <a:off x="5404842" y="4577613"/>
            <a:ext cx="11049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75" dirty="0"/>
          </a:p>
        </p:txBody>
      </p:sp>
      <p:sp>
        <p:nvSpPr>
          <p:cNvPr id="129" name="Shape 127"/>
          <p:cNvSpPr/>
          <p:nvPr/>
        </p:nvSpPr>
        <p:spPr>
          <a:xfrm>
            <a:off x="6662143" y="4539513"/>
            <a:ext cx="10287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0" name="Shape 128"/>
          <p:cNvSpPr/>
          <p:nvPr/>
        </p:nvSpPr>
        <p:spPr>
          <a:xfrm>
            <a:off x="6662143" y="4969499"/>
            <a:ext cx="10287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1" name="Text 129"/>
          <p:cNvSpPr/>
          <p:nvPr/>
        </p:nvSpPr>
        <p:spPr>
          <a:xfrm>
            <a:off x="6738343" y="4577613"/>
            <a:ext cx="8763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132" name="Shape 130"/>
          <p:cNvSpPr/>
          <p:nvPr/>
        </p:nvSpPr>
        <p:spPr>
          <a:xfrm>
            <a:off x="7690843" y="4539513"/>
            <a:ext cx="13335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3" name="Shape 131"/>
          <p:cNvSpPr/>
          <p:nvPr/>
        </p:nvSpPr>
        <p:spPr>
          <a:xfrm>
            <a:off x="7690843" y="4969499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4" name="Text 132"/>
          <p:cNvSpPr/>
          <p:nvPr/>
        </p:nvSpPr>
        <p:spPr>
          <a:xfrm>
            <a:off x="7690843" y="4577613"/>
            <a:ext cx="11811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B447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100%</a:t>
            </a:r>
            <a:endParaRPr lang="en-US" sz="1875" dirty="0"/>
          </a:p>
        </p:txBody>
      </p:sp>
      <p:sp>
        <p:nvSpPr>
          <p:cNvPr id="135" name="Shape 133"/>
          <p:cNvSpPr/>
          <p:nvPr/>
        </p:nvSpPr>
        <p:spPr>
          <a:xfrm>
            <a:off x="9024343" y="4539513"/>
            <a:ext cx="1074369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6" name="Shape 134"/>
          <p:cNvSpPr/>
          <p:nvPr/>
        </p:nvSpPr>
        <p:spPr>
          <a:xfrm>
            <a:off x="9024343" y="4969499"/>
            <a:ext cx="1074369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7" name="Text 135"/>
          <p:cNvSpPr/>
          <p:nvPr/>
        </p:nvSpPr>
        <p:spPr>
          <a:xfrm>
            <a:off x="9100543" y="4577613"/>
            <a:ext cx="921969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138" name="Shape 136"/>
          <p:cNvSpPr/>
          <p:nvPr/>
        </p:nvSpPr>
        <p:spPr>
          <a:xfrm>
            <a:off x="10098711" y="4539513"/>
            <a:ext cx="1392861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9" name="Shape 137"/>
          <p:cNvSpPr/>
          <p:nvPr/>
        </p:nvSpPr>
        <p:spPr>
          <a:xfrm>
            <a:off x="10098711" y="4969499"/>
            <a:ext cx="139286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0" name="Text 138"/>
          <p:cNvSpPr/>
          <p:nvPr/>
        </p:nvSpPr>
        <p:spPr>
          <a:xfrm>
            <a:off x="10098711" y="4577613"/>
            <a:ext cx="1240461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B447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100%</a:t>
            </a:r>
            <a:endParaRPr lang="en-US" sz="1875" dirty="0"/>
          </a:p>
        </p:txBody>
      </p:sp>
      <p:sp>
        <p:nvSpPr>
          <p:cNvPr id="141" name="Shape 139"/>
          <p:cNvSpPr/>
          <p:nvPr/>
        </p:nvSpPr>
        <p:spPr>
          <a:xfrm>
            <a:off x="11491573" y="4969499"/>
            <a:ext cx="6110628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2" name="Text 140"/>
          <p:cNvSpPr/>
          <p:nvPr/>
        </p:nvSpPr>
        <p:spPr>
          <a:xfrm>
            <a:off x="11720173" y="4577613"/>
            <a:ext cx="6065347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B447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テストクラス生成用のCSV出力が加わる</a:t>
            </a:r>
            <a:endParaRPr lang="en-US" sz="1875" dirty="0"/>
          </a:p>
        </p:txBody>
      </p:sp>
      <p:sp>
        <p:nvSpPr>
          <p:cNvPr id="143" name="Shape 141"/>
          <p:cNvSpPr/>
          <p:nvPr/>
        </p:nvSpPr>
        <p:spPr>
          <a:xfrm>
            <a:off x="685800" y="5404927"/>
            <a:ext cx="179325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4" name="Shape 142"/>
          <p:cNvSpPr/>
          <p:nvPr/>
        </p:nvSpPr>
        <p:spPr>
          <a:xfrm>
            <a:off x="2479052" y="5404927"/>
            <a:ext cx="284959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5" name="Text 143"/>
          <p:cNvSpPr/>
          <p:nvPr/>
        </p:nvSpPr>
        <p:spPr>
          <a:xfrm>
            <a:off x="2479052" y="5013042"/>
            <a:ext cx="2782679" cy="3918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レビュー指摘対応</a:t>
            </a:r>
            <a:endParaRPr lang="en-US" sz="1875" dirty="0"/>
          </a:p>
        </p:txBody>
      </p:sp>
      <p:sp>
        <p:nvSpPr>
          <p:cNvPr id="146" name="Shape 144"/>
          <p:cNvSpPr/>
          <p:nvPr/>
        </p:nvSpPr>
        <p:spPr>
          <a:xfrm>
            <a:off x="5328642" y="5404927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7" name="Text 145"/>
          <p:cNvSpPr/>
          <p:nvPr/>
        </p:nvSpPr>
        <p:spPr>
          <a:xfrm>
            <a:off x="5404842" y="5013042"/>
            <a:ext cx="11049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75" dirty="0"/>
          </a:p>
        </p:txBody>
      </p:sp>
      <p:sp>
        <p:nvSpPr>
          <p:cNvPr id="148" name="Shape 146"/>
          <p:cNvSpPr/>
          <p:nvPr/>
        </p:nvSpPr>
        <p:spPr>
          <a:xfrm>
            <a:off x="6662143" y="4974942"/>
            <a:ext cx="10287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9" name="Shape 147"/>
          <p:cNvSpPr/>
          <p:nvPr/>
        </p:nvSpPr>
        <p:spPr>
          <a:xfrm>
            <a:off x="6662143" y="5404927"/>
            <a:ext cx="10287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0" name="Text 148"/>
          <p:cNvSpPr/>
          <p:nvPr/>
        </p:nvSpPr>
        <p:spPr>
          <a:xfrm>
            <a:off x="6738343" y="5013042"/>
            <a:ext cx="8763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75" dirty="0"/>
          </a:p>
        </p:txBody>
      </p:sp>
      <p:sp>
        <p:nvSpPr>
          <p:cNvPr id="151" name="Shape 149"/>
          <p:cNvSpPr/>
          <p:nvPr/>
        </p:nvSpPr>
        <p:spPr>
          <a:xfrm>
            <a:off x="7690843" y="4974942"/>
            <a:ext cx="13335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2" name="Shape 150"/>
          <p:cNvSpPr/>
          <p:nvPr/>
        </p:nvSpPr>
        <p:spPr>
          <a:xfrm>
            <a:off x="7690843" y="5404927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3" name="Text 151"/>
          <p:cNvSpPr/>
          <p:nvPr/>
        </p:nvSpPr>
        <p:spPr>
          <a:xfrm>
            <a:off x="7690843" y="5013042"/>
            <a:ext cx="11811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0%</a:t>
            </a:r>
            <a:endParaRPr lang="en-US" sz="1875" dirty="0"/>
          </a:p>
        </p:txBody>
      </p:sp>
      <p:sp>
        <p:nvSpPr>
          <p:cNvPr id="154" name="Shape 152"/>
          <p:cNvSpPr/>
          <p:nvPr/>
        </p:nvSpPr>
        <p:spPr>
          <a:xfrm>
            <a:off x="9024343" y="4974942"/>
            <a:ext cx="1074369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5" name="Shape 153"/>
          <p:cNvSpPr/>
          <p:nvPr/>
        </p:nvSpPr>
        <p:spPr>
          <a:xfrm>
            <a:off x="9024343" y="5404927"/>
            <a:ext cx="1074369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6" name="Text 154"/>
          <p:cNvSpPr/>
          <p:nvPr/>
        </p:nvSpPr>
        <p:spPr>
          <a:xfrm>
            <a:off x="9100543" y="5013042"/>
            <a:ext cx="921969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75" dirty="0"/>
          </a:p>
        </p:txBody>
      </p:sp>
      <p:sp>
        <p:nvSpPr>
          <p:cNvPr id="157" name="Shape 155"/>
          <p:cNvSpPr/>
          <p:nvPr/>
        </p:nvSpPr>
        <p:spPr>
          <a:xfrm>
            <a:off x="10098711" y="4974942"/>
            <a:ext cx="1392861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8" name="Shape 156"/>
          <p:cNvSpPr/>
          <p:nvPr/>
        </p:nvSpPr>
        <p:spPr>
          <a:xfrm>
            <a:off x="10098711" y="5404927"/>
            <a:ext cx="139286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9" name="Text 157"/>
          <p:cNvSpPr/>
          <p:nvPr/>
        </p:nvSpPr>
        <p:spPr>
          <a:xfrm>
            <a:off x="10098711" y="5013042"/>
            <a:ext cx="1240461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0%</a:t>
            </a:r>
            <a:endParaRPr lang="en-US" sz="1875" dirty="0"/>
          </a:p>
        </p:txBody>
      </p:sp>
      <p:sp>
        <p:nvSpPr>
          <p:cNvPr id="160" name="Shape 158"/>
          <p:cNvSpPr/>
          <p:nvPr/>
        </p:nvSpPr>
        <p:spPr>
          <a:xfrm>
            <a:off x="11491573" y="5404927"/>
            <a:ext cx="6110628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1" name="Text 159"/>
          <p:cNvSpPr/>
          <p:nvPr/>
        </p:nvSpPr>
        <p:spPr>
          <a:xfrm>
            <a:off x="11720173" y="5013042"/>
            <a:ext cx="6065347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ja-JP" altLang="en-US" sz="1875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元の工数が小さいため</a:t>
            </a:r>
            <a:r>
              <a:rPr lang="en-US" sz="1875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変化なし</a:t>
            </a:r>
            <a:endParaRPr lang="en-US" sz="1875" dirty="0"/>
          </a:p>
        </p:txBody>
      </p:sp>
      <p:sp>
        <p:nvSpPr>
          <p:cNvPr id="162" name="Shape 160"/>
          <p:cNvSpPr/>
          <p:nvPr/>
        </p:nvSpPr>
        <p:spPr>
          <a:xfrm>
            <a:off x="685800" y="5840356"/>
            <a:ext cx="179325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3" name="Shape 161"/>
          <p:cNvSpPr/>
          <p:nvPr/>
        </p:nvSpPr>
        <p:spPr>
          <a:xfrm>
            <a:off x="685800" y="5410370"/>
            <a:ext cx="1793251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4" name="Text 162"/>
          <p:cNvSpPr/>
          <p:nvPr/>
        </p:nvSpPr>
        <p:spPr>
          <a:xfrm>
            <a:off x="685800" y="5453913"/>
            <a:ext cx="1640851" cy="3864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UT実施</a:t>
            </a:r>
            <a:endParaRPr lang="en-US" sz="1875" dirty="0"/>
          </a:p>
        </p:txBody>
      </p:sp>
      <p:sp>
        <p:nvSpPr>
          <p:cNvPr id="165" name="Shape 163"/>
          <p:cNvSpPr/>
          <p:nvPr/>
        </p:nvSpPr>
        <p:spPr>
          <a:xfrm>
            <a:off x="2479052" y="5840356"/>
            <a:ext cx="284959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6" name="Shape 164"/>
          <p:cNvSpPr/>
          <p:nvPr/>
        </p:nvSpPr>
        <p:spPr>
          <a:xfrm>
            <a:off x="2479052" y="5410370"/>
            <a:ext cx="2849591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7" name="Text 165"/>
          <p:cNvSpPr/>
          <p:nvPr/>
        </p:nvSpPr>
        <p:spPr>
          <a:xfrm>
            <a:off x="2479052" y="5453913"/>
            <a:ext cx="2782679" cy="3864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UTテストクラス作成</a:t>
            </a:r>
            <a:endParaRPr lang="en-US" sz="1875" dirty="0"/>
          </a:p>
        </p:txBody>
      </p:sp>
      <p:sp>
        <p:nvSpPr>
          <p:cNvPr id="168" name="Shape 166"/>
          <p:cNvSpPr/>
          <p:nvPr/>
        </p:nvSpPr>
        <p:spPr>
          <a:xfrm>
            <a:off x="5328642" y="5840356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9" name="Shape 167"/>
          <p:cNvSpPr/>
          <p:nvPr/>
        </p:nvSpPr>
        <p:spPr>
          <a:xfrm>
            <a:off x="5328642" y="5410370"/>
            <a:ext cx="1333500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0" name="Text 168"/>
          <p:cNvSpPr/>
          <p:nvPr/>
        </p:nvSpPr>
        <p:spPr>
          <a:xfrm>
            <a:off x="5404842" y="5453913"/>
            <a:ext cx="1104900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875" dirty="0"/>
          </a:p>
        </p:txBody>
      </p:sp>
      <p:sp>
        <p:nvSpPr>
          <p:cNvPr id="171" name="Shape 169"/>
          <p:cNvSpPr/>
          <p:nvPr/>
        </p:nvSpPr>
        <p:spPr>
          <a:xfrm>
            <a:off x="6662143" y="5410370"/>
            <a:ext cx="10287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2" name="Shape 170"/>
          <p:cNvSpPr/>
          <p:nvPr/>
        </p:nvSpPr>
        <p:spPr>
          <a:xfrm>
            <a:off x="6662143" y="5840356"/>
            <a:ext cx="10287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3" name="Shape 171"/>
          <p:cNvSpPr/>
          <p:nvPr/>
        </p:nvSpPr>
        <p:spPr>
          <a:xfrm>
            <a:off x="6662143" y="5410370"/>
            <a:ext cx="1028700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4" name="Text 172"/>
          <p:cNvSpPr/>
          <p:nvPr/>
        </p:nvSpPr>
        <p:spPr>
          <a:xfrm>
            <a:off x="6738343" y="5453913"/>
            <a:ext cx="876300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175" name="Shape 173"/>
          <p:cNvSpPr/>
          <p:nvPr/>
        </p:nvSpPr>
        <p:spPr>
          <a:xfrm>
            <a:off x="7690843" y="5410370"/>
            <a:ext cx="13335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6" name="Shape 174"/>
          <p:cNvSpPr/>
          <p:nvPr/>
        </p:nvSpPr>
        <p:spPr>
          <a:xfrm>
            <a:off x="7690843" y="5840356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7" name="Shape 175"/>
          <p:cNvSpPr/>
          <p:nvPr/>
        </p:nvSpPr>
        <p:spPr>
          <a:xfrm>
            <a:off x="7690843" y="5410370"/>
            <a:ext cx="1333500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8" name="Text 176"/>
          <p:cNvSpPr/>
          <p:nvPr/>
        </p:nvSpPr>
        <p:spPr>
          <a:xfrm>
            <a:off x="7690843" y="5453913"/>
            <a:ext cx="1181100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-80%</a:t>
            </a:r>
            <a:endParaRPr lang="en-US" sz="1875" dirty="0"/>
          </a:p>
        </p:txBody>
      </p:sp>
      <p:sp>
        <p:nvSpPr>
          <p:cNvPr id="179" name="Shape 177"/>
          <p:cNvSpPr/>
          <p:nvPr/>
        </p:nvSpPr>
        <p:spPr>
          <a:xfrm>
            <a:off x="9024343" y="5410370"/>
            <a:ext cx="1074369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0" name="Shape 178"/>
          <p:cNvSpPr/>
          <p:nvPr/>
        </p:nvSpPr>
        <p:spPr>
          <a:xfrm>
            <a:off x="9024343" y="5840356"/>
            <a:ext cx="1074369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1" name="Shape 179"/>
          <p:cNvSpPr/>
          <p:nvPr/>
        </p:nvSpPr>
        <p:spPr>
          <a:xfrm>
            <a:off x="9024343" y="5410370"/>
            <a:ext cx="1074369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2" name="Text 180"/>
          <p:cNvSpPr/>
          <p:nvPr/>
        </p:nvSpPr>
        <p:spPr>
          <a:xfrm>
            <a:off x="9100543" y="5453913"/>
            <a:ext cx="921969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183" name="Shape 181"/>
          <p:cNvSpPr/>
          <p:nvPr/>
        </p:nvSpPr>
        <p:spPr>
          <a:xfrm>
            <a:off x="10098711" y="5410370"/>
            <a:ext cx="1392861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4" name="Shape 182"/>
          <p:cNvSpPr/>
          <p:nvPr/>
        </p:nvSpPr>
        <p:spPr>
          <a:xfrm>
            <a:off x="10098711" y="5840356"/>
            <a:ext cx="139286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5" name="Shape 183"/>
          <p:cNvSpPr/>
          <p:nvPr/>
        </p:nvSpPr>
        <p:spPr>
          <a:xfrm>
            <a:off x="10098711" y="5410370"/>
            <a:ext cx="1392861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6" name="Text 184"/>
          <p:cNvSpPr/>
          <p:nvPr/>
        </p:nvSpPr>
        <p:spPr>
          <a:xfrm>
            <a:off x="10098711" y="5453913"/>
            <a:ext cx="1240461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-80%</a:t>
            </a:r>
            <a:endParaRPr lang="en-US" sz="1875" dirty="0"/>
          </a:p>
        </p:txBody>
      </p:sp>
      <p:sp>
        <p:nvSpPr>
          <p:cNvPr id="187" name="Shape 185"/>
          <p:cNvSpPr/>
          <p:nvPr/>
        </p:nvSpPr>
        <p:spPr>
          <a:xfrm>
            <a:off x="11491573" y="5840356"/>
            <a:ext cx="6110628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8" name="Shape 186"/>
          <p:cNvSpPr/>
          <p:nvPr/>
        </p:nvSpPr>
        <p:spPr>
          <a:xfrm>
            <a:off x="11491573" y="5410370"/>
            <a:ext cx="6110628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9" name="Text 187"/>
          <p:cNvSpPr/>
          <p:nvPr/>
        </p:nvSpPr>
        <p:spPr>
          <a:xfrm>
            <a:off x="11720173" y="5453913"/>
            <a:ext cx="6065347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プロンプト実行のみで大きく軽減</a:t>
            </a:r>
            <a:endParaRPr lang="en-US" sz="1875" dirty="0"/>
          </a:p>
        </p:txBody>
      </p:sp>
      <p:sp>
        <p:nvSpPr>
          <p:cNvPr id="190" name="Shape 188"/>
          <p:cNvSpPr/>
          <p:nvPr/>
        </p:nvSpPr>
        <p:spPr>
          <a:xfrm>
            <a:off x="685800" y="6275785"/>
            <a:ext cx="179325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1" name="Shape 189"/>
          <p:cNvSpPr/>
          <p:nvPr/>
        </p:nvSpPr>
        <p:spPr>
          <a:xfrm>
            <a:off x="2479052" y="6275785"/>
            <a:ext cx="284959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2" name="Text 190"/>
          <p:cNvSpPr/>
          <p:nvPr/>
        </p:nvSpPr>
        <p:spPr>
          <a:xfrm>
            <a:off x="2479052" y="5883899"/>
            <a:ext cx="2782679" cy="3918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UT実行</a:t>
            </a:r>
            <a:endParaRPr lang="en-US" sz="1875" dirty="0"/>
          </a:p>
        </p:txBody>
      </p:sp>
      <p:sp>
        <p:nvSpPr>
          <p:cNvPr id="193" name="Shape 191"/>
          <p:cNvSpPr/>
          <p:nvPr/>
        </p:nvSpPr>
        <p:spPr>
          <a:xfrm>
            <a:off x="5328642" y="6275785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4" name="Text 192"/>
          <p:cNvSpPr/>
          <p:nvPr/>
        </p:nvSpPr>
        <p:spPr>
          <a:xfrm>
            <a:off x="5404842" y="5883899"/>
            <a:ext cx="11049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75" dirty="0"/>
          </a:p>
        </p:txBody>
      </p:sp>
      <p:sp>
        <p:nvSpPr>
          <p:cNvPr id="195" name="Shape 193"/>
          <p:cNvSpPr/>
          <p:nvPr/>
        </p:nvSpPr>
        <p:spPr>
          <a:xfrm>
            <a:off x="6662143" y="5845799"/>
            <a:ext cx="10287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6" name="Shape 194"/>
          <p:cNvSpPr/>
          <p:nvPr/>
        </p:nvSpPr>
        <p:spPr>
          <a:xfrm>
            <a:off x="6662143" y="6275785"/>
            <a:ext cx="10287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7" name="Text 195"/>
          <p:cNvSpPr/>
          <p:nvPr/>
        </p:nvSpPr>
        <p:spPr>
          <a:xfrm>
            <a:off x="6738343" y="5883899"/>
            <a:ext cx="8763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75" dirty="0"/>
          </a:p>
        </p:txBody>
      </p:sp>
      <p:sp>
        <p:nvSpPr>
          <p:cNvPr id="198" name="Shape 196"/>
          <p:cNvSpPr/>
          <p:nvPr/>
        </p:nvSpPr>
        <p:spPr>
          <a:xfrm>
            <a:off x="7690843" y="5845799"/>
            <a:ext cx="13335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9" name="Shape 197"/>
          <p:cNvSpPr/>
          <p:nvPr/>
        </p:nvSpPr>
        <p:spPr>
          <a:xfrm>
            <a:off x="7690843" y="6275785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0" name="Text 198"/>
          <p:cNvSpPr/>
          <p:nvPr/>
        </p:nvSpPr>
        <p:spPr>
          <a:xfrm>
            <a:off x="7690843" y="5883899"/>
            <a:ext cx="11811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-25%</a:t>
            </a:r>
            <a:endParaRPr lang="en-US" sz="1875" dirty="0"/>
          </a:p>
        </p:txBody>
      </p:sp>
      <p:sp>
        <p:nvSpPr>
          <p:cNvPr id="201" name="Shape 199"/>
          <p:cNvSpPr/>
          <p:nvPr/>
        </p:nvSpPr>
        <p:spPr>
          <a:xfrm>
            <a:off x="9024343" y="5845799"/>
            <a:ext cx="1074369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2" name="Shape 200"/>
          <p:cNvSpPr/>
          <p:nvPr/>
        </p:nvSpPr>
        <p:spPr>
          <a:xfrm>
            <a:off x="9024343" y="6275785"/>
            <a:ext cx="1074369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3" name="Text 201"/>
          <p:cNvSpPr/>
          <p:nvPr/>
        </p:nvSpPr>
        <p:spPr>
          <a:xfrm>
            <a:off x="9100543" y="5883899"/>
            <a:ext cx="921969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204" name="Shape 202"/>
          <p:cNvSpPr/>
          <p:nvPr/>
        </p:nvSpPr>
        <p:spPr>
          <a:xfrm>
            <a:off x="10098711" y="5845799"/>
            <a:ext cx="1392861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5" name="Shape 203"/>
          <p:cNvSpPr/>
          <p:nvPr/>
        </p:nvSpPr>
        <p:spPr>
          <a:xfrm>
            <a:off x="10098711" y="6275785"/>
            <a:ext cx="139286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6" name="Text 204"/>
          <p:cNvSpPr/>
          <p:nvPr/>
        </p:nvSpPr>
        <p:spPr>
          <a:xfrm>
            <a:off x="10098711" y="5883899"/>
            <a:ext cx="1240461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-50%</a:t>
            </a:r>
            <a:endParaRPr lang="en-US" sz="1875" dirty="0"/>
          </a:p>
        </p:txBody>
      </p:sp>
      <p:sp>
        <p:nvSpPr>
          <p:cNvPr id="207" name="Shape 205"/>
          <p:cNvSpPr/>
          <p:nvPr/>
        </p:nvSpPr>
        <p:spPr>
          <a:xfrm>
            <a:off x="11491573" y="6275785"/>
            <a:ext cx="6110628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8" name="Text 206"/>
          <p:cNvSpPr/>
          <p:nvPr/>
        </p:nvSpPr>
        <p:spPr>
          <a:xfrm>
            <a:off x="11720173" y="5883899"/>
            <a:ext cx="6065347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実行エラーの確認・修正が少し効率化</a:t>
            </a:r>
            <a:endParaRPr lang="en-US" sz="1875" dirty="0"/>
          </a:p>
        </p:txBody>
      </p:sp>
      <p:sp>
        <p:nvSpPr>
          <p:cNvPr id="209" name="Shape 207"/>
          <p:cNvSpPr/>
          <p:nvPr/>
        </p:nvSpPr>
        <p:spPr>
          <a:xfrm>
            <a:off x="685800" y="6711213"/>
            <a:ext cx="179325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0" name="Shape 208"/>
          <p:cNvSpPr/>
          <p:nvPr/>
        </p:nvSpPr>
        <p:spPr>
          <a:xfrm>
            <a:off x="2479052" y="6711213"/>
            <a:ext cx="284959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1" name="Text 209"/>
          <p:cNvSpPr/>
          <p:nvPr/>
        </p:nvSpPr>
        <p:spPr>
          <a:xfrm>
            <a:off x="2479052" y="6319328"/>
            <a:ext cx="2782679" cy="3918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結果検証・再テスト</a:t>
            </a:r>
            <a:endParaRPr lang="en-US" sz="1875" dirty="0"/>
          </a:p>
        </p:txBody>
      </p:sp>
      <p:sp>
        <p:nvSpPr>
          <p:cNvPr id="212" name="Shape 210"/>
          <p:cNvSpPr/>
          <p:nvPr/>
        </p:nvSpPr>
        <p:spPr>
          <a:xfrm>
            <a:off x="5328642" y="6711213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3" name="Text 211"/>
          <p:cNvSpPr/>
          <p:nvPr/>
        </p:nvSpPr>
        <p:spPr>
          <a:xfrm>
            <a:off x="5404842" y="6319328"/>
            <a:ext cx="11049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875" dirty="0"/>
          </a:p>
        </p:txBody>
      </p:sp>
      <p:sp>
        <p:nvSpPr>
          <p:cNvPr id="214" name="Shape 212"/>
          <p:cNvSpPr/>
          <p:nvPr/>
        </p:nvSpPr>
        <p:spPr>
          <a:xfrm>
            <a:off x="6662143" y="6281228"/>
            <a:ext cx="10287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5" name="Shape 213"/>
          <p:cNvSpPr/>
          <p:nvPr/>
        </p:nvSpPr>
        <p:spPr>
          <a:xfrm>
            <a:off x="6662143" y="6711213"/>
            <a:ext cx="10287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6" name="Text 214"/>
          <p:cNvSpPr/>
          <p:nvPr/>
        </p:nvSpPr>
        <p:spPr>
          <a:xfrm>
            <a:off x="6738343" y="6319328"/>
            <a:ext cx="8763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75" dirty="0"/>
          </a:p>
        </p:txBody>
      </p:sp>
      <p:sp>
        <p:nvSpPr>
          <p:cNvPr id="217" name="Shape 215"/>
          <p:cNvSpPr/>
          <p:nvPr/>
        </p:nvSpPr>
        <p:spPr>
          <a:xfrm>
            <a:off x="7690843" y="6281228"/>
            <a:ext cx="13335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8" name="Shape 216"/>
          <p:cNvSpPr/>
          <p:nvPr/>
        </p:nvSpPr>
        <p:spPr>
          <a:xfrm>
            <a:off x="7690843" y="6711213"/>
            <a:ext cx="1333500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9" name="Text 217"/>
          <p:cNvSpPr/>
          <p:nvPr/>
        </p:nvSpPr>
        <p:spPr>
          <a:xfrm>
            <a:off x="7690843" y="6319328"/>
            <a:ext cx="11811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-20%</a:t>
            </a:r>
            <a:endParaRPr lang="en-US" sz="1875" dirty="0"/>
          </a:p>
        </p:txBody>
      </p:sp>
      <p:sp>
        <p:nvSpPr>
          <p:cNvPr id="220" name="Shape 218"/>
          <p:cNvSpPr/>
          <p:nvPr/>
        </p:nvSpPr>
        <p:spPr>
          <a:xfrm>
            <a:off x="9024343" y="6281228"/>
            <a:ext cx="1074369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1" name="Shape 219"/>
          <p:cNvSpPr/>
          <p:nvPr/>
        </p:nvSpPr>
        <p:spPr>
          <a:xfrm>
            <a:off x="9024343" y="6711213"/>
            <a:ext cx="1074369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2" name="Text 220"/>
          <p:cNvSpPr/>
          <p:nvPr/>
        </p:nvSpPr>
        <p:spPr>
          <a:xfrm>
            <a:off x="9100543" y="6319328"/>
            <a:ext cx="921969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223" name="Shape 221"/>
          <p:cNvSpPr/>
          <p:nvPr/>
        </p:nvSpPr>
        <p:spPr>
          <a:xfrm>
            <a:off x="10098711" y="6281228"/>
            <a:ext cx="1392861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4" name="Shape 222"/>
          <p:cNvSpPr/>
          <p:nvPr/>
        </p:nvSpPr>
        <p:spPr>
          <a:xfrm>
            <a:off x="10098711" y="6711213"/>
            <a:ext cx="1392861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5" name="Text 223"/>
          <p:cNvSpPr/>
          <p:nvPr/>
        </p:nvSpPr>
        <p:spPr>
          <a:xfrm>
            <a:off x="10098711" y="6319328"/>
            <a:ext cx="1240461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-60%</a:t>
            </a:r>
            <a:endParaRPr lang="en-US" sz="1875" dirty="0"/>
          </a:p>
        </p:txBody>
      </p:sp>
      <p:sp>
        <p:nvSpPr>
          <p:cNvPr id="226" name="Shape 224"/>
          <p:cNvSpPr/>
          <p:nvPr/>
        </p:nvSpPr>
        <p:spPr>
          <a:xfrm>
            <a:off x="11491573" y="6711213"/>
            <a:ext cx="6110628" cy="9525"/>
          </a:xfrm>
          <a:prstGeom prst="rect">
            <a:avLst/>
          </a:prstGeom>
          <a:solidFill>
            <a:srgbClr val="EDF0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7" name="Text 225"/>
          <p:cNvSpPr/>
          <p:nvPr/>
        </p:nvSpPr>
        <p:spPr>
          <a:xfrm>
            <a:off x="11720173" y="6319328"/>
            <a:ext cx="6065347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同上</a:t>
            </a:r>
            <a:endParaRPr lang="en-US" sz="1875" dirty="0"/>
          </a:p>
        </p:txBody>
      </p:sp>
      <p:sp>
        <p:nvSpPr>
          <p:cNvPr id="228" name="Shape 226"/>
          <p:cNvSpPr/>
          <p:nvPr/>
        </p:nvSpPr>
        <p:spPr>
          <a:xfrm>
            <a:off x="685800" y="7146642"/>
            <a:ext cx="1793251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9" name="Shape 227"/>
          <p:cNvSpPr/>
          <p:nvPr/>
        </p:nvSpPr>
        <p:spPr>
          <a:xfrm>
            <a:off x="2479052" y="7146642"/>
            <a:ext cx="2849591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0" name="Text 228"/>
          <p:cNvSpPr/>
          <p:nvPr/>
        </p:nvSpPr>
        <p:spPr>
          <a:xfrm>
            <a:off x="2479052" y="6754756"/>
            <a:ext cx="2782679" cy="3918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レビュー指摘対応</a:t>
            </a:r>
            <a:endParaRPr lang="en-US" sz="1875" dirty="0"/>
          </a:p>
        </p:txBody>
      </p:sp>
      <p:sp>
        <p:nvSpPr>
          <p:cNvPr id="231" name="Shape 229"/>
          <p:cNvSpPr/>
          <p:nvPr/>
        </p:nvSpPr>
        <p:spPr>
          <a:xfrm>
            <a:off x="5328642" y="7146642"/>
            <a:ext cx="1333500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2" name="Text 230"/>
          <p:cNvSpPr/>
          <p:nvPr/>
        </p:nvSpPr>
        <p:spPr>
          <a:xfrm>
            <a:off x="5404842" y="6754756"/>
            <a:ext cx="11049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75" dirty="0"/>
          </a:p>
        </p:txBody>
      </p:sp>
      <p:sp>
        <p:nvSpPr>
          <p:cNvPr id="233" name="Shape 231"/>
          <p:cNvSpPr/>
          <p:nvPr/>
        </p:nvSpPr>
        <p:spPr>
          <a:xfrm>
            <a:off x="6662143" y="6716656"/>
            <a:ext cx="10287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4" name="Shape 232"/>
          <p:cNvSpPr/>
          <p:nvPr/>
        </p:nvSpPr>
        <p:spPr>
          <a:xfrm>
            <a:off x="6662143" y="7146642"/>
            <a:ext cx="1028700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5" name="Text 233"/>
          <p:cNvSpPr/>
          <p:nvPr/>
        </p:nvSpPr>
        <p:spPr>
          <a:xfrm>
            <a:off x="6738343" y="6754756"/>
            <a:ext cx="8763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75" dirty="0"/>
          </a:p>
        </p:txBody>
      </p:sp>
      <p:sp>
        <p:nvSpPr>
          <p:cNvPr id="236" name="Shape 234"/>
          <p:cNvSpPr/>
          <p:nvPr/>
        </p:nvSpPr>
        <p:spPr>
          <a:xfrm>
            <a:off x="7690843" y="6716656"/>
            <a:ext cx="1333500" cy="435429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7" name="Shape 235"/>
          <p:cNvSpPr/>
          <p:nvPr/>
        </p:nvSpPr>
        <p:spPr>
          <a:xfrm>
            <a:off x="7690843" y="7146642"/>
            <a:ext cx="1333500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8" name="Text 236"/>
          <p:cNvSpPr/>
          <p:nvPr/>
        </p:nvSpPr>
        <p:spPr>
          <a:xfrm>
            <a:off x="7690843" y="6754756"/>
            <a:ext cx="11811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0%</a:t>
            </a:r>
            <a:endParaRPr lang="en-US" sz="1875" dirty="0"/>
          </a:p>
        </p:txBody>
      </p:sp>
      <p:sp>
        <p:nvSpPr>
          <p:cNvPr id="239" name="Shape 237"/>
          <p:cNvSpPr/>
          <p:nvPr/>
        </p:nvSpPr>
        <p:spPr>
          <a:xfrm>
            <a:off x="9024343" y="6716656"/>
            <a:ext cx="1074369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0" name="Shape 238"/>
          <p:cNvSpPr/>
          <p:nvPr/>
        </p:nvSpPr>
        <p:spPr>
          <a:xfrm>
            <a:off x="9024343" y="7146642"/>
            <a:ext cx="1074369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1" name="Text 239"/>
          <p:cNvSpPr/>
          <p:nvPr/>
        </p:nvSpPr>
        <p:spPr>
          <a:xfrm>
            <a:off x="9100543" y="6754756"/>
            <a:ext cx="921969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5" dirty="0"/>
          </a:p>
        </p:txBody>
      </p:sp>
      <p:sp>
        <p:nvSpPr>
          <p:cNvPr id="242" name="Shape 240"/>
          <p:cNvSpPr/>
          <p:nvPr/>
        </p:nvSpPr>
        <p:spPr>
          <a:xfrm>
            <a:off x="10098711" y="6716656"/>
            <a:ext cx="1392861" cy="435429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3" name="Shape 241"/>
          <p:cNvSpPr/>
          <p:nvPr/>
        </p:nvSpPr>
        <p:spPr>
          <a:xfrm>
            <a:off x="10098711" y="7146642"/>
            <a:ext cx="1392861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4" name="Text 242"/>
          <p:cNvSpPr/>
          <p:nvPr/>
        </p:nvSpPr>
        <p:spPr>
          <a:xfrm>
            <a:off x="10098711" y="6754756"/>
            <a:ext cx="1240461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-33%</a:t>
            </a:r>
            <a:endParaRPr lang="en-US" sz="1875" dirty="0"/>
          </a:p>
        </p:txBody>
      </p:sp>
      <p:sp>
        <p:nvSpPr>
          <p:cNvPr id="245" name="Shape 243"/>
          <p:cNvSpPr/>
          <p:nvPr/>
        </p:nvSpPr>
        <p:spPr>
          <a:xfrm>
            <a:off x="11491573" y="7146642"/>
            <a:ext cx="6110628" cy="9525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6" name="Text 244"/>
          <p:cNvSpPr/>
          <p:nvPr/>
        </p:nvSpPr>
        <p:spPr>
          <a:xfrm>
            <a:off x="11720173" y="6754756"/>
            <a:ext cx="6065347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5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今期はAI精度向上で指摘自体が減る想定</a:t>
            </a:r>
            <a:endParaRPr lang="en-US" sz="1875" dirty="0"/>
          </a:p>
        </p:txBody>
      </p:sp>
      <p:sp>
        <p:nvSpPr>
          <p:cNvPr id="247" name="Text 245"/>
          <p:cNvSpPr/>
          <p:nvPr/>
        </p:nvSpPr>
        <p:spPr>
          <a:xfrm>
            <a:off x="685800" y="7218760"/>
            <a:ext cx="1640851" cy="39460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CD合計</a:t>
            </a:r>
            <a:endParaRPr lang="en-US" sz="1875" dirty="0"/>
          </a:p>
        </p:txBody>
      </p:sp>
      <p:sp>
        <p:nvSpPr>
          <p:cNvPr id="248" name="Text 246"/>
          <p:cNvSpPr/>
          <p:nvPr/>
        </p:nvSpPr>
        <p:spPr>
          <a:xfrm>
            <a:off x="2479052" y="7218760"/>
            <a:ext cx="2782679" cy="39460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（h）</a:t>
            </a:r>
            <a:endParaRPr lang="en-US" sz="1875" dirty="0"/>
          </a:p>
        </p:txBody>
      </p:sp>
      <p:sp>
        <p:nvSpPr>
          <p:cNvPr id="249" name="Text 247"/>
          <p:cNvSpPr/>
          <p:nvPr/>
        </p:nvSpPr>
        <p:spPr>
          <a:xfrm>
            <a:off x="5404842" y="7218760"/>
            <a:ext cx="1104900" cy="394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875" dirty="0"/>
          </a:p>
        </p:txBody>
      </p:sp>
      <p:sp>
        <p:nvSpPr>
          <p:cNvPr id="250" name="Shape 248"/>
          <p:cNvSpPr/>
          <p:nvPr/>
        </p:nvSpPr>
        <p:spPr>
          <a:xfrm>
            <a:off x="6662143" y="7152085"/>
            <a:ext cx="1028700" cy="489857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1" name="Text 249"/>
          <p:cNvSpPr/>
          <p:nvPr/>
        </p:nvSpPr>
        <p:spPr>
          <a:xfrm>
            <a:off x="6738343" y="7218760"/>
            <a:ext cx="876300" cy="394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875" dirty="0"/>
          </a:p>
        </p:txBody>
      </p:sp>
      <p:sp>
        <p:nvSpPr>
          <p:cNvPr id="252" name="Shape 250"/>
          <p:cNvSpPr/>
          <p:nvPr/>
        </p:nvSpPr>
        <p:spPr>
          <a:xfrm>
            <a:off x="7690843" y="7152085"/>
            <a:ext cx="1333500" cy="489857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3" name="Text 251"/>
          <p:cNvSpPr/>
          <p:nvPr/>
        </p:nvSpPr>
        <p:spPr>
          <a:xfrm>
            <a:off x="7690843" y="7218760"/>
            <a:ext cx="1181100" cy="394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-36%</a:t>
            </a:r>
            <a:endParaRPr lang="en-US" sz="1875" dirty="0"/>
          </a:p>
        </p:txBody>
      </p:sp>
      <p:sp>
        <p:nvSpPr>
          <p:cNvPr id="254" name="Shape 252"/>
          <p:cNvSpPr/>
          <p:nvPr/>
        </p:nvSpPr>
        <p:spPr>
          <a:xfrm>
            <a:off x="9024343" y="7152085"/>
            <a:ext cx="1074369" cy="489857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5" name="Text 253"/>
          <p:cNvSpPr/>
          <p:nvPr/>
        </p:nvSpPr>
        <p:spPr>
          <a:xfrm>
            <a:off x="9100543" y="7218760"/>
            <a:ext cx="921969" cy="394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875" dirty="0"/>
          </a:p>
        </p:txBody>
      </p:sp>
      <p:sp>
        <p:nvSpPr>
          <p:cNvPr id="256" name="Shape 254"/>
          <p:cNvSpPr/>
          <p:nvPr/>
        </p:nvSpPr>
        <p:spPr>
          <a:xfrm>
            <a:off x="10098711" y="7152085"/>
            <a:ext cx="1392861" cy="489857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7" name="Text 255"/>
          <p:cNvSpPr/>
          <p:nvPr/>
        </p:nvSpPr>
        <p:spPr>
          <a:xfrm>
            <a:off x="10098711" y="7218760"/>
            <a:ext cx="1240461" cy="394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-57%</a:t>
            </a:r>
            <a:endParaRPr lang="en-US" sz="1875" dirty="0"/>
          </a:p>
        </p:txBody>
      </p:sp>
      <p:sp>
        <p:nvSpPr>
          <p:cNvPr id="258" name="Text 256"/>
          <p:cNvSpPr/>
          <p:nvPr/>
        </p:nvSpPr>
        <p:spPr>
          <a:xfrm>
            <a:off x="685800" y="7708617"/>
            <a:ext cx="1640851" cy="400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UT合計</a:t>
            </a:r>
            <a:endParaRPr lang="en-US" sz="1875" dirty="0"/>
          </a:p>
        </p:txBody>
      </p:sp>
      <p:sp>
        <p:nvSpPr>
          <p:cNvPr id="259" name="Text 257"/>
          <p:cNvSpPr/>
          <p:nvPr/>
        </p:nvSpPr>
        <p:spPr>
          <a:xfrm>
            <a:off x="2479052" y="7708617"/>
            <a:ext cx="2782679" cy="400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（h）</a:t>
            </a:r>
            <a:endParaRPr lang="en-US" sz="1875" dirty="0"/>
          </a:p>
        </p:txBody>
      </p:sp>
      <p:sp>
        <p:nvSpPr>
          <p:cNvPr id="260" name="Text 258"/>
          <p:cNvSpPr/>
          <p:nvPr/>
        </p:nvSpPr>
        <p:spPr>
          <a:xfrm>
            <a:off x="5404842" y="7708617"/>
            <a:ext cx="11049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en-US" sz="1875" dirty="0"/>
          </a:p>
        </p:txBody>
      </p:sp>
      <p:sp>
        <p:nvSpPr>
          <p:cNvPr id="261" name="Shape 259"/>
          <p:cNvSpPr/>
          <p:nvPr/>
        </p:nvSpPr>
        <p:spPr>
          <a:xfrm>
            <a:off x="6662143" y="7641942"/>
            <a:ext cx="1028700" cy="495300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2" name="Text 260"/>
          <p:cNvSpPr/>
          <p:nvPr/>
        </p:nvSpPr>
        <p:spPr>
          <a:xfrm>
            <a:off x="6738343" y="7708617"/>
            <a:ext cx="8763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875" dirty="0"/>
          </a:p>
        </p:txBody>
      </p:sp>
      <p:sp>
        <p:nvSpPr>
          <p:cNvPr id="263" name="Shape 261"/>
          <p:cNvSpPr/>
          <p:nvPr/>
        </p:nvSpPr>
        <p:spPr>
          <a:xfrm>
            <a:off x="7690843" y="7641942"/>
            <a:ext cx="1333500" cy="495300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4" name="Text 262"/>
          <p:cNvSpPr/>
          <p:nvPr/>
        </p:nvSpPr>
        <p:spPr>
          <a:xfrm>
            <a:off x="7690843" y="7708617"/>
            <a:ext cx="11811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-39%</a:t>
            </a:r>
            <a:endParaRPr lang="en-US" sz="1875" dirty="0"/>
          </a:p>
        </p:txBody>
      </p:sp>
      <p:sp>
        <p:nvSpPr>
          <p:cNvPr id="265" name="Shape 263"/>
          <p:cNvSpPr/>
          <p:nvPr/>
        </p:nvSpPr>
        <p:spPr>
          <a:xfrm>
            <a:off x="9024343" y="7641942"/>
            <a:ext cx="1074369" cy="495300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6" name="Text 264"/>
          <p:cNvSpPr/>
          <p:nvPr/>
        </p:nvSpPr>
        <p:spPr>
          <a:xfrm>
            <a:off x="9100543" y="7708617"/>
            <a:ext cx="92196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875" dirty="0"/>
          </a:p>
        </p:txBody>
      </p:sp>
      <p:sp>
        <p:nvSpPr>
          <p:cNvPr id="267" name="Shape 265"/>
          <p:cNvSpPr/>
          <p:nvPr/>
        </p:nvSpPr>
        <p:spPr>
          <a:xfrm>
            <a:off x="10098711" y="7641942"/>
            <a:ext cx="1392861" cy="495300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8" name="Text 266"/>
          <p:cNvSpPr/>
          <p:nvPr/>
        </p:nvSpPr>
        <p:spPr>
          <a:xfrm>
            <a:off x="10098711" y="7708617"/>
            <a:ext cx="124046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-57%</a:t>
            </a:r>
            <a:endParaRPr lang="en-US" sz="1875" dirty="0"/>
          </a:p>
        </p:txBody>
      </p:sp>
      <p:sp>
        <p:nvSpPr>
          <p:cNvPr id="269" name="Shape 267"/>
          <p:cNvSpPr/>
          <p:nvPr/>
        </p:nvSpPr>
        <p:spPr>
          <a:xfrm>
            <a:off x="685800" y="8137242"/>
            <a:ext cx="1793251" cy="16329"/>
          </a:xfrm>
          <a:prstGeom prst="rect">
            <a:avLst/>
          </a:prstGeom>
          <a:solidFill>
            <a:srgbClr val="1421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0" name="Text 268"/>
          <p:cNvSpPr/>
          <p:nvPr/>
        </p:nvSpPr>
        <p:spPr>
          <a:xfrm>
            <a:off x="685800" y="8229770"/>
            <a:ext cx="1640851" cy="41637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</a:t>
            </a:r>
            <a:endParaRPr lang="en-US" sz="2025" dirty="0"/>
          </a:p>
        </p:txBody>
      </p:sp>
      <p:sp>
        <p:nvSpPr>
          <p:cNvPr id="271" name="Shape 269"/>
          <p:cNvSpPr/>
          <p:nvPr/>
        </p:nvSpPr>
        <p:spPr>
          <a:xfrm>
            <a:off x="2479052" y="8137242"/>
            <a:ext cx="2849591" cy="16329"/>
          </a:xfrm>
          <a:prstGeom prst="rect">
            <a:avLst/>
          </a:prstGeom>
          <a:solidFill>
            <a:srgbClr val="1421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2" name="Text 270"/>
          <p:cNvSpPr/>
          <p:nvPr/>
        </p:nvSpPr>
        <p:spPr>
          <a:xfrm>
            <a:off x="2479052" y="8229770"/>
            <a:ext cx="2782679" cy="41637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（人日）</a:t>
            </a:r>
            <a:endParaRPr lang="en-US" sz="2025" dirty="0"/>
          </a:p>
        </p:txBody>
      </p:sp>
      <p:sp>
        <p:nvSpPr>
          <p:cNvPr id="273" name="Shape 271"/>
          <p:cNvSpPr/>
          <p:nvPr/>
        </p:nvSpPr>
        <p:spPr>
          <a:xfrm>
            <a:off x="5328642" y="8137242"/>
            <a:ext cx="1333500" cy="16329"/>
          </a:xfrm>
          <a:prstGeom prst="rect">
            <a:avLst/>
          </a:prstGeom>
          <a:solidFill>
            <a:srgbClr val="1421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4" name="Text 272"/>
          <p:cNvSpPr/>
          <p:nvPr/>
        </p:nvSpPr>
        <p:spPr>
          <a:xfrm>
            <a:off x="5404842" y="8229770"/>
            <a:ext cx="1104900" cy="41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5.25</a:t>
            </a:r>
            <a:endParaRPr lang="en-US" sz="2025" dirty="0"/>
          </a:p>
        </p:txBody>
      </p:sp>
      <p:sp>
        <p:nvSpPr>
          <p:cNvPr id="275" name="Shape 273"/>
          <p:cNvSpPr/>
          <p:nvPr/>
        </p:nvSpPr>
        <p:spPr>
          <a:xfrm>
            <a:off x="6662143" y="8137242"/>
            <a:ext cx="1028700" cy="547007"/>
          </a:xfrm>
          <a:prstGeom prst="rect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6" name="Shape 274"/>
          <p:cNvSpPr/>
          <p:nvPr/>
        </p:nvSpPr>
        <p:spPr>
          <a:xfrm>
            <a:off x="6662143" y="8137242"/>
            <a:ext cx="1028700" cy="16329"/>
          </a:xfrm>
          <a:prstGeom prst="rect">
            <a:avLst/>
          </a:prstGeom>
          <a:solidFill>
            <a:srgbClr val="1421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7" name="Text 275"/>
          <p:cNvSpPr/>
          <p:nvPr/>
        </p:nvSpPr>
        <p:spPr>
          <a:xfrm>
            <a:off x="6738343" y="8229770"/>
            <a:ext cx="876300" cy="41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3.25</a:t>
            </a:r>
            <a:endParaRPr lang="en-US" sz="2025" dirty="0"/>
          </a:p>
        </p:txBody>
      </p:sp>
      <p:sp>
        <p:nvSpPr>
          <p:cNvPr id="278" name="Shape 276"/>
          <p:cNvSpPr/>
          <p:nvPr/>
        </p:nvSpPr>
        <p:spPr>
          <a:xfrm>
            <a:off x="7690843" y="8137242"/>
            <a:ext cx="1333500" cy="547007"/>
          </a:xfrm>
          <a:prstGeom prst="rect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9" name="Shape 277"/>
          <p:cNvSpPr/>
          <p:nvPr/>
        </p:nvSpPr>
        <p:spPr>
          <a:xfrm>
            <a:off x="7690843" y="8137242"/>
            <a:ext cx="1333500" cy="16329"/>
          </a:xfrm>
          <a:prstGeom prst="rect">
            <a:avLst/>
          </a:prstGeom>
          <a:solidFill>
            <a:srgbClr val="1421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0" name="Text 278"/>
          <p:cNvSpPr/>
          <p:nvPr/>
        </p:nvSpPr>
        <p:spPr>
          <a:xfrm>
            <a:off x="7690843" y="8229770"/>
            <a:ext cx="1181100" cy="41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-38%</a:t>
            </a:r>
            <a:endParaRPr lang="en-US" sz="2025" dirty="0"/>
          </a:p>
        </p:txBody>
      </p:sp>
      <p:sp>
        <p:nvSpPr>
          <p:cNvPr id="281" name="Shape 279"/>
          <p:cNvSpPr/>
          <p:nvPr/>
        </p:nvSpPr>
        <p:spPr>
          <a:xfrm>
            <a:off x="9024343" y="8137242"/>
            <a:ext cx="1074369" cy="547007"/>
          </a:xfrm>
          <a:prstGeom prst="rect">
            <a:avLst/>
          </a:prstGeom>
          <a:solidFill>
            <a:srgbClr val="DDEA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2" name="Shape 280"/>
          <p:cNvSpPr/>
          <p:nvPr/>
        </p:nvSpPr>
        <p:spPr>
          <a:xfrm>
            <a:off x="9024343" y="8137242"/>
            <a:ext cx="1074369" cy="16329"/>
          </a:xfrm>
          <a:prstGeom prst="rect">
            <a:avLst/>
          </a:prstGeom>
          <a:solidFill>
            <a:srgbClr val="1421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3" name="Text 281"/>
          <p:cNvSpPr/>
          <p:nvPr/>
        </p:nvSpPr>
        <p:spPr>
          <a:xfrm>
            <a:off x="9100543" y="8229770"/>
            <a:ext cx="921969" cy="41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2.25</a:t>
            </a:r>
            <a:endParaRPr lang="en-US" sz="2025" dirty="0"/>
          </a:p>
        </p:txBody>
      </p:sp>
      <p:sp>
        <p:nvSpPr>
          <p:cNvPr id="284" name="Shape 282"/>
          <p:cNvSpPr/>
          <p:nvPr/>
        </p:nvSpPr>
        <p:spPr>
          <a:xfrm>
            <a:off x="10098711" y="8137242"/>
            <a:ext cx="1392861" cy="547007"/>
          </a:xfrm>
          <a:prstGeom prst="rect">
            <a:avLst/>
          </a:prstGeom>
          <a:solidFill>
            <a:srgbClr val="DDEA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5" name="Shape 283"/>
          <p:cNvSpPr/>
          <p:nvPr/>
        </p:nvSpPr>
        <p:spPr>
          <a:xfrm>
            <a:off x="10098711" y="8137242"/>
            <a:ext cx="1392861" cy="16329"/>
          </a:xfrm>
          <a:prstGeom prst="rect">
            <a:avLst/>
          </a:prstGeom>
          <a:solidFill>
            <a:srgbClr val="1421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6" name="Text 284"/>
          <p:cNvSpPr/>
          <p:nvPr/>
        </p:nvSpPr>
        <p:spPr>
          <a:xfrm>
            <a:off x="10098711" y="8229770"/>
            <a:ext cx="1240461" cy="41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-57%</a:t>
            </a:r>
            <a:endParaRPr lang="en-US" sz="2025" dirty="0"/>
          </a:p>
        </p:txBody>
      </p:sp>
      <p:sp>
        <p:nvSpPr>
          <p:cNvPr id="287" name="Shape 285"/>
          <p:cNvSpPr/>
          <p:nvPr/>
        </p:nvSpPr>
        <p:spPr>
          <a:xfrm>
            <a:off x="11491573" y="8137242"/>
            <a:ext cx="6110628" cy="16329"/>
          </a:xfrm>
          <a:prstGeom prst="rect">
            <a:avLst/>
          </a:prstGeom>
          <a:solidFill>
            <a:srgbClr val="1421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8" name="Text 286"/>
          <p:cNvSpPr/>
          <p:nvPr/>
        </p:nvSpPr>
        <p:spPr>
          <a:xfrm>
            <a:off x="685800" y="8750924"/>
            <a:ext cx="1640851" cy="3918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機能数</a:t>
            </a:r>
            <a:endParaRPr lang="en-US" sz="1875" dirty="0"/>
          </a:p>
        </p:txBody>
      </p:sp>
      <p:sp>
        <p:nvSpPr>
          <p:cNvPr id="289" name="Text 287"/>
          <p:cNvSpPr/>
          <p:nvPr/>
        </p:nvSpPr>
        <p:spPr>
          <a:xfrm>
            <a:off x="2479052" y="8750924"/>
            <a:ext cx="2782679" cy="3918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（1人月あたり）</a:t>
            </a:r>
            <a:endParaRPr lang="en-US" sz="1875" dirty="0"/>
          </a:p>
        </p:txBody>
      </p:sp>
      <p:sp>
        <p:nvSpPr>
          <p:cNvPr id="290" name="Text 288"/>
          <p:cNvSpPr/>
          <p:nvPr/>
        </p:nvSpPr>
        <p:spPr>
          <a:xfrm>
            <a:off x="5404842" y="8750924"/>
            <a:ext cx="11049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421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3.8</a:t>
            </a:r>
            <a:endParaRPr lang="en-US" sz="1875" dirty="0"/>
          </a:p>
        </p:txBody>
      </p:sp>
      <p:sp>
        <p:nvSpPr>
          <p:cNvPr id="291" name="Shape 289"/>
          <p:cNvSpPr/>
          <p:nvPr/>
        </p:nvSpPr>
        <p:spPr>
          <a:xfrm>
            <a:off x="6662143" y="8684249"/>
            <a:ext cx="1028700" cy="487136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2" name="Text 290"/>
          <p:cNvSpPr/>
          <p:nvPr/>
        </p:nvSpPr>
        <p:spPr>
          <a:xfrm>
            <a:off x="6738343" y="8750924"/>
            <a:ext cx="876300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D6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6.2</a:t>
            </a:r>
            <a:endParaRPr lang="en-US" sz="1875" dirty="0"/>
          </a:p>
        </p:txBody>
      </p:sp>
      <p:sp>
        <p:nvSpPr>
          <p:cNvPr id="293" name="Shape 291"/>
          <p:cNvSpPr/>
          <p:nvPr/>
        </p:nvSpPr>
        <p:spPr>
          <a:xfrm>
            <a:off x="7690843" y="8684249"/>
            <a:ext cx="1333500" cy="487136"/>
          </a:xfrm>
          <a:prstGeom prst="rect">
            <a:avLst/>
          </a:prstGeom>
          <a:solidFill>
            <a:srgbClr val="F8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4" name="Shape 292"/>
          <p:cNvSpPr/>
          <p:nvPr/>
        </p:nvSpPr>
        <p:spPr>
          <a:xfrm>
            <a:off x="9024343" y="8684249"/>
            <a:ext cx="1074369" cy="487136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5" name="Text 293"/>
          <p:cNvSpPr/>
          <p:nvPr/>
        </p:nvSpPr>
        <p:spPr>
          <a:xfrm>
            <a:off x="9100543" y="8750924"/>
            <a:ext cx="921969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0F4C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8.9</a:t>
            </a:r>
            <a:endParaRPr lang="en-US" sz="1875" dirty="0"/>
          </a:p>
        </p:txBody>
      </p:sp>
      <p:sp>
        <p:nvSpPr>
          <p:cNvPr id="296" name="Shape 294"/>
          <p:cNvSpPr/>
          <p:nvPr/>
        </p:nvSpPr>
        <p:spPr>
          <a:xfrm>
            <a:off x="10098711" y="8684249"/>
            <a:ext cx="1392861" cy="487136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7" name="Text 295"/>
          <p:cNvSpPr/>
          <p:nvPr/>
        </p:nvSpPr>
        <p:spPr>
          <a:xfrm>
            <a:off x="11720173" y="8750924"/>
            <a:ext cx="6065347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※概算</a:t>
            </a:r>
            <a:endParaRPr lang="en-US" sz="1875" dirty="0"/>
          </a:p>
        </p:txBody>
      </p:sp>
      <p:sp>
        <p:nvSpPr>
          <p:cNvPr id="298" name="Text 296"/>
          <p:cNvSpPr/>
          <p:nvPr/>
        </p:nvSpPr>
        <p:spPr>
          <a:xfrm>
            <a:off x="685801" y="9485327"/>
            <a:ext cx="16711246" cy="45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0865"/>
              </a:lnSpc>
              <a:buNone/>
            </a:pPr>
            <a:r>
              <a:rPr lang="en-US" sz="2400" dirty="0">
                <a:solidFill>
                  <a:srgbClr val="6B76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今期目標はプロンプトの改善・スキル化とAI側の精度向上を前提に置いている。プラスの数値は工数が増える作業。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3170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71393F-231D-4E76-BD54-3C30EBE058F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5ffcd01-fb31-4ab1-ba9f-ecb73ceab75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453</Words>
  <Application>Microsoft Office PowerPoint</Application>
  <PresentationFormat>ユーザー設定</PresentationFormat>
  <Paragraphs>172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Meiryo</vt:lpstr>
      <vt:lpstr>Arial</vt:lpstr>
      <vt:lpstr>Office Theme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中谷 賢太</cp:lastModifiedBy>
  <cp:revision>27</cp:revision>
  <dcterms:created xsi:type="dcterms:W3CDTF">2026-08-04T04:13:53Z</dcterms:created>
  <dcterms:modified xsi:type="dcterms:W3CDTF">2026-08-05T02:57:13Z</dcterms:modified>
</cp:coreProperties>
</file>